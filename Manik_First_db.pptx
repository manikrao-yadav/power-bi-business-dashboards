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1" r:id="rId3"/>
    <p:sldId id="262" r:id="rId4"/>
    <p:sldId id="260" r:id="rId5"/>
    <p:sldId id="266" r:id="rId6"/>
    <p:sldId id="259" r:id="rId7"/>
    <p:sldId id="264" r:id="rId8"/>
    <p:sldId id="258" r:id="rId9"/>
    <p:sldId id="265" r:id="rId10"/>
    <p:sldId id="257" r:id="rId11"/>
    <p:sldId id="263" r:id="rId12"/>
  </p:sldIdLst>
  <p:sldSz cx="24387175" cy="13716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2" d="100"/>
          <a:sy n="42" d="100"/>
        </p:scale>
        <p:origin x="65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1743" y="3539081"/>
            <a:ext cx="18882526" cy="3657602"/>
          </a:xfrm>
        </p:spPr>
        <p:txBody>
          <a:bodyPr anchor="b">
            <a:normAutofit/>
          </a:bodyPr>
          <a:lstStyle>
            <a:lvl1pPr algn="ctr">
              <a:defRPr sz="10800"/>
            </a:lvl1pPr>
          </a:lstStyle>
          <a:p>
            <a:r>
              <a:rPr lang="en-US"/>
              <a:t>Click to edit Master title style</a:t>
            </a:r>
            <a:endParaRPr lang="en-US" dirty="0"/>
          </a:p>
        </p:txBody>
      </p:sp>
      <p:sp>
        <p:nvSpPr>
          <p:cNvPr id="3" name="Subtitle 2"/>
          <p:cNvSpPr>
            <a:spLocks noGrp="1"/>
          </p:cNvSpPr>
          <p:nvPr>
            <p:ph type="subTitle" idx="1"/>
          </p:nvPr>
        </p:nvSpPr>
        <p:spPr>
          <a:xfrm>
            <a:off x="2741743" y="7196679"/>
            <a:ext cx="18882526" cy="2099734"/>
          </a:xfrm>
        </p:spPr>
        <p:txBody>
          <a:bodyPr anchor="t"/>
          <a:lstStyle>
            <a:lvl1pPr marL="0" indent="0" algn="ctr">
              <a:buNone/>
              <a:defRPr>
                <a:solidFill>
                  <a:schemeClr val="tx1"/>
                </a:solidFill>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B8A43E-68BA-4332-95B4-321C605888C0}"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10585723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B8A43E-68BA-4332-95B4-321C605888C0}"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18183405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91139" y="3522135"/>
            <a:ext cx="19183598" cy="3657626"/>
          </a:xfrm>
        </p:spPr>
        <p:txBody>
          <a:bodyPr anchor="b"/>
          <a:lstStyle>
            <a:lvl1pPr algn="ctr">
              <a:defRPr sz="8000" b="0" cap="none"/>
            </a:lvl1pPr>
          </a:lstStyle>
          <a:p>
            <a:r>
              <a:rPr lang="en-US"/>
              <a:t>Click to edit Master title style</a:t>
            </a:r>
            <a:endParaRPr lang="en-US" dirty="0"/>
          </a:p>
        </p:txBody>
      </p:sp>
      <p:sp>
        <p:nvSpPr>
          <p:cNvPr id="3" name="Text Placeholder 2"/>
          <p:cNvSpPr>
            <a:spLocks noGrp="1"/>
          </p:cNvSpPr>
          <p:nvPr>
            <p:ph type="body" idx="1"/>
          </p:nvPr>
        </p:nvSpPr>
        <p:spPr>
          <a:xfrm>
            <a:off x="2591139" y="7179758"/>
            <a:ext cx="19183598" cy="3014108"/>
          </a:xfrm>
        </p:spPr>
        <p:txBody>
          <a:bodyPr anchor="t"/>
          <a:lstStyle>
            <a:lvl1pPr marL="0" indent="0" algn="ctr">
              <a:buNone/>
              <a:defRPr sz="4000">
                <a:solidFill>
                  <a:schemeClr val="tx1"/>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B8A43E-68BA-4332-95B4-321C605888C0}"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24655644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827829" y="3464898"/>
            <a:ext cx="10122312" cy="811750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407400" y="3464899"/>
            <a:ext cx="10130649" cy="811750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B8A43E-68BA-4332-95B4-321C605888C0}"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32058281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7828" y="3469013"/>
            <a:ext cx="10179469" cy="8297538"/>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58579" y="3469013"/>
            <a:ext cx="10179469" cy="8297538"/>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2012006" y="3670508"/>
            <a:ext cx="9753958" cy="1089768"/>
          </a:xfrm>
        </p:spPr>
        <p:txBody>
          <a:bodyPr anchor="b">
            <a:noAutofit/>
          </a:bodyPr>
          <a:lstStyle>
            <a:lvl1pPr marL="0" indent="0" algn="ctr">
              <a:buNone/>
              <a:defRPr sz="4800" b="0"/>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2012006" y="4760275"/>
            <a:ext cx="9753958" cy="6822126"/>
          </a:xfrm>
        </p:spPr>
        <p:txBody>
          <a:bodyPr anchor="t">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591573" y="3670509"/>
            <a:ext cx="9791935" cy="1089766"/>
          </a:xfrm>
        </p:spPr>
        <p:txBody>
          <a:bodyPr anchor="b">
            <a:noAutofit/>
          </a:bodyPr>
          <a:lstStyle>
            <a:lvl1pPr marL="0" indent="0" algn="ctr">
              <a:buNone/>
              <a:defRPr sz="4800" b="0"/>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12591573" y="4760275"/>
            <a:ext cx="9791935" cy="6822126"/>
          </a:xfrm>
        </p:spPr>
        <p:txBody>
          <a:bodyPr anchor="t">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B8A43E-68BA-4332-95B4-321C605888C0}" type="datetimeFigureOut">
              <a:rPr lang="en-IN" smtClean="0"/>
              <a:t>24-11-2025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19578148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B8A43E-68BA-4332-95B4-321C605888C0}" type="datetimeFigureOut">
              <a:rPr lang="en-IN" smtClean="0"/>
              <a:t>24-11-2025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38205131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B8A43E-68BA-4332-95B4-321C605888C0}" type="datetimeFigureOut">
              <a:rPr lang="en-IN" smtClean="0"/>
              <a:t>24-11-2025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40477973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7829" y="1219200"/>
            <a:ext cx="7414743" cy="3643836"/>
          </a:xfrm>
        </p:spPr>
        <p:txBody>
          <a:bodyPr anchor="b">
            <a:normAutofit/>
          </a:bodyPr>
          <a:lstStyle>
            <a:lvl1pPr algn="ctr">
              <a:defRPr sz="4800" b="0"/>
            </a:lvl1pPr>
          </a:lstStyle>
          <a:p>
            <a:r>
              <a:rPr lang="en-US"/>
              <a:t>Click to edit Master title style</a:t>
            </a:r>
            <a:endParaRPr lang="en-US" dirty="0"/>
          </a:p>
        </p:txBody>
      </p:sp>
      <p:sp>
        <p:nvSpPr>
          <p:cNvPr id="3" name="Content Placeholder 2"/>
          <p:cNvSpPr>
            <a:spLocks noGrp="1"/>
          </p:cNvSpPr>
          <p:nvPr>
            <p:ph idx="1"/>
          </p:nvPr>
        </p:nvSpPr>
        <p:spPr>
          <a:xfrm>
            <a:off x="9712530" y="1219200"/>
            <a:ext cx="12825518" cy="103632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827829" y="4863037"/>
            <a:ext cx="7414743" cy="6719362"/>
          </a:xfrm>
        </p:spPr>
        <p:txBody>
          <a:bodyPr anchor="t">
            <a:normAutofit/>
          </a:bodyPr>
          <a:lstStyle>
            <a:lvl1pPr marL="0" indent="0" algn="ctr">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56B8A43E-68BA-4332-95B4-321C605888C0}"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11675360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89230" y="1219200"/>
            <a:ext cx="7169265" cy="10409664"/>
          </a:xfrm>
          <a:prstGeom prst="rect">
            <a:avLst/>
          </a:prstGeom>
        </p:spPr>
      </p:pic>
      <p:sp>
        <p:nvSpPr>
          <p:cNvPr id="2" name="Title 1"/>
          <p:cNvSpPr>
            <a:spLocks noGrp="1"/>
          </p:cNvSpPr>
          <p:nvPr>
            <p:ph type="title"/>
          </p:nvPr>
        </p:nvSpPr>
        <p:spPr>
          <a:xfrm>
            <a:off x="1827829" y="1219846"/>
            <a:ext cx="11871444" cy="3658676"/>
          </a:xfrm>
        </p:spPr>
        <p:txBody>
          <a:bodyPr anchor="b">
            <a:noAutofit/>
          </a:bodyPr>
          <a:lstStyle>
            <a:lvl1pPr algn="ctr">
              <a:defRPr sz="6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4887041" y="1527404"/>
            <a:ext cx="6552355" cy="9825644"/>
          </a:xfrm>
          <a:effectLst>
            <a:outerShdw blurRad="38100" dist="25400" dir="4440000">
              <a:srgbClr val="000000">
                <a:alpha val="36000"/>
              </a:srgbClr>
            </a:outerShdw>
          </a:effectLst>
        </p:spPr>
        <p:txBody>
          <a:bodyPr anchor="t">
            <a:normAutofit/>
          </a:bodyPr>
          <a:lstStyle>
            <a:lvl1pPr marL="0" indent="0" algn="ctr">
              <a:buNone/>
              <a:defRPr sz="3200"/>
            </a:lvl1pPr>
            <a:lvl2pPr marL="914400" indent="0">
              <a:buNone/>
              <a:defRPr sz="3200"/>
            </a:lvl2pPr>
            <a:lvl3pPr marL="1828800" indent="0">
              <a:buNone/>
              <a:defRPr sz="3200"/>
            </a:lvl3pPr>
            <a:lvl4pPr marL="2743200" indent="0">
              <a:buNone/>
              <a:defRPr sz="3200"/>
            </a:lvl4pPr>
            <a:lvl5pPr marL="3657600" indent="0">
              <a:buNone/>
              <a:defRPr sz="3200"/>
            </a:lvl5pPr>
            <a:lvl6pPr marL="4572000" indent="0">
              <a:buNone/>
              <a:defRPr sz="3200"/>
            </a:lvl6pPr>
            <a:lvl7pPr marL="5486400" indent="0">
              <a:buNone/>
              <a:defRPr sz="3200"/>
            </a:lvl7pPr>
            <a:lvl8pPr marL="6400800" indent="0">
              <a:buNone/>
              <a:defRPr sz="3200"/>
            </a:lvl8pPr>
            <a:lvl9pPr marL="7315200" indent="0">
              <a:buNone/>
              <a:defRPr sz="3200"/>
            </a:lvl9pPr>
          </a:lstStyle>
          <a:p>
            <a:r>
              <a:rPr lang="en-US"/>
              <a:t>Click icon to add picture</a:t>
            </a:r>
            <a:endParaRPr lang="en-US" dirty="0"/>
          </a:p>
        </p:txBody>
      </p:sp>
      <p:sp>
        <p:nvSpPr>
          <p:cNvPr id="4" name="Text Placeholder 3"/>
          <p:cNvSpPr>
            <a:spLocks noGrp="1"/>
          </p:cNvSpPr>
          <p:nvPr>
            <p:ph type="body" sz="half" idx="2"/>
          </p:nvPr>
        </p:nvSpPr>
        <p:spPr>
          <a:xfrm>
            <a:off x="1827829" y="4878522"/>
            <a:ext cx="11871444" cy="6752268"/>
          </a:xfrm>
        </p:spPr>
        <p:txBody>
          <a:bodyPr anchor="t">
            <a:normAutofit/>
          </a:bodyPr>
          <a:lstStyle>
            <a:lvl1pPr marL="0" indent="0" algn="ctr">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56B8A43E-68BA-4332-95B4-321C605888C0}"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18150175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8031" y="1095614"/>
            <a:ext cx="20286239" cy="7633612"/>
          </a:xfrm>
          <a:prstGeom prst="rect">
            <a:avLst/>
          </a:prstGeom>
        </p:spPr>
      </p:pic>
      <p:sp>
        <p:nvSpPr>
          <p:cNvPr id="2" name="Title 1"/>
          <p:cNvSpPr>
            <a:spLocks noGrp="1"/>
          </p:cNvSpPr>
          <p:nvPr>
            <p:ph type="title"/>
          </p:nvPr>
        </p:nvSpPr>
        <p:spPr>
          <a:xfrm>
            <a:off x="1827850" y="9130510"/>
            <a:ext cx="20713349" cy="1086944"/>
          </a:xfrm>
        </p:spPr>
        <p:txBody>
          <a:bodyPr anchor="b">
            <a:normAutofit/>
          </a:bodyPr>
          <a:lstStyle>
            <a:lvl1pPr algn="ctr">
              <a:defRPr sz="5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39002" y="1390019"/>
            <a:ext cx="19693256" cy="7051342"/>
          </a:xfrm>
          <a:effectLst>
            <a:outerShdw blurRad="38100" dist="25400" dir="4440000">
              <a:srgbClr val="000000">
                <a:alpha val="36000"/>
              </a:srgbClr>
            </a:outerShdw>
          </a:effectLst>
        </p:spPr>
        <p:txBody>
          <a:bodyPr anchor="t">
            <a:normAutofit/>
          </a:bodyPr>
          <a:lstStyle>
            <a:lvl1pPr marL="0" indent="0" algn="ctr">
              <a:buNone/>
              <a:defRPr sz="4000"/>
            </a:lvl1pPr>
            <a:lvl2pPr marL="914400" indent="0">
              <a:buNone/>
              <a:defRPr sz="4000"/>
            </a:lvl2pPr>
            <a:lvl3pPr marL="1828800" indent="0">
              <a:buNone/>
              <a:defRPr sz="40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US"/>
              <a:t>Click icon to add picture</a:t>
            </a:r>
            <a:endParaRPr lang="en-US" dirty="0"/>
          </a:p>
        </p:txBody>
      </p:sp>
      <p:sp>
        <p:nvSpPr>
          <p:cNvPr id="4" name="Text Placeholder 3"/>
          <p:cNvSpPr>
            <a:spLocks noGrp="1"/>
          </p:cNvSpPr>
          <p:nvPr>
            <p:ph type="body" sz="half" idx="2"/>
          </p:nvPr>
        </p:nvSpPr>
        <p:spPr>
          <a:xfrm>
            <a:off x="1827828" y="10217456"/>
            <a:ext cx="20710220" cy="1364944"/>
          </a:xfrm>
        </p:spPr>
        <p:txBody>
          <a:bodyPr anchor="t"/>
          <a:lstStyle>
            <a:lvl1pPr marL="0" indent="0" algn="ctr">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56B8A43E-68BA-4332-95B4-321C605888C0}"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35689412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827828" y="1216874"/>
            <a:ext cx="20710220" cy="7068688"/>
          </a:xfrm>
        </p:spPr>
        <p:txBody>
          <a:bodyPr anchor="ctr"/>
          <a:lstStyle>
            <a:lvl1pPr>
              <a:defRPr sz="6400"/>
            </a:lvl1pPr>
          </a:lstStyle>
          <a:p>
            <a:r>
              <a:rPr lang="en-US"/>
              <a:t>Click to edit Master title style</a:t>
            </a:r>
            <a:endParaRPr lang="en-US" dirty="0"/>
          </a:p>
        </p:txBody>
      </p:sp>
      <p:sp>
        <p:nvSpPr>
          <p:cNvPr id="4" name="Text Placeholder 3"/>
          <p:cNvSpPr>
            <a:spLocks noGrp="1"/>
          </p:cNvSpPr>
          <p:nvPr>
            <p:ph type="body" sz="half" idx="2"/>
          </p:nvPr>
        </p:nvSpPr>
        <p:spPr>
          <a:xfrm>
            <a:off x="1827827" y="8590360"/>
            <a:ext cx="20710222" cy="3003652"/>
          </a:xfrm>
        </p:spPr>
        <p:txBody>
          <a:bodyPr anchor="ctr"/>
          <a:lstStyle>
            <a:lvl1pPr marL="0" indent="0" algn="ctr">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56B8A43E-68BA-4332-95B4-321C605888C0}"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23594996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2800" y="1219200"/>
            <a:ext cx="18607927" cy="5985808"/>
          </a:xfrm>
        </p:spPr>
        <p:txBody>
          <a:bodyPr anchor="ctr"/>
          <a:lstStyle>
            <a:lvl1pPr>
              <a:defRPr sz="6400"/>
            </a:lvl1pPr>
          </a:lstStyle>
          <a:p>
            <a:r>
              <a:rPr lang="en-US"/>
              <a:t>Click to edit Master title style</a:t>
            </a:r>
            <a:endParaRPr lang="en-US" dirty="0"/>
          </a:p>
        </p:txBody>
      </p:sp>
      <p:sp>
        <p:nvSpPr>
          <p:cNvPr id="12" name="Text Placeholder 3"/>
          <p:cNvSpPr>
            <a:spLocks noGrp="1"/>
          </p:cNvSpPr>
          <p:nvPr>
            <p:ph type="body" sz="half" idx="13"/>
          </p:nvPr>
        </p:nvSpPr>
        <p:spPr>
          <a:xfrm>
            <a:off x="3441737" y="7220065"/>
            <a:ext cx="17506877" cy="1065498"/>
          </a:xfrm>
        </p:spPr>
        <p:txBody>
          <a:bodyPr anchor="t">
            <a:normAutofit/>
          </a:bodyPr>
          <a:lstStyle>
            <a:lvl1pPr marL="0" indent="0" algn="r">
              <a:buNone/>
              <a:defRPr sz="28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4" name="Text Placeholder 3"/>
          <p:cNvSpPr>
            <a:spLocks noGrp="1"/>
          </p:cNvSpPr>
          <p:nvPr>
            <p:ph type="body" sz="half" idx="2"/>
          </p:nvPr>
        </p:nvSpPr>
        <p:spPr>
          <a:xfrm>
            <a:off x="1827827" y="8608706"/>
            <a:ext cx="20710222" cy="2978992"/>
          </a:xfrm>
        </p:spPr>
        <p:txBody>
          <a:bodyPr anchor="ctr">
            <a:normAutofit/>
          </a:bodyPr>
          <a:lstStyle>
            <a:lvl1pPr marL="0" indent="0" algn="ctr">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56B8A43E-68BA-4332-95B4-321C605888C0}"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4D5A4A-592F-4DC5-B03B-4699AF22ACBA}" type="slidenum">
              <a:rPr lang="en-IN" smtClean="0"/>
              <a:t>‹#›</a:t>
            </a:fld>
            <a:endParaRPr lang="en-IN"/>
          </a:p>
        </p:txBody>
      </p:sp>
      <p:sp>
        <p:nvSpPr>
          <p:cNvPr id="11" name="TextBox 10"/>
          <p:cNvSpPr txBox="1"/>
          <p:nvPr/>
        </p:nvSpPr>
        <p:spPr>
          <a:xfrm>
            <a:off x="1981458" y="1769592"/>
            <a:ext cx="1219359" cy="1169552"/>
          </a:xfrm>
          <a:prstGeom prst="rect">
            <a:avLst/>
          </a:prstGeom>
        </p:spPr>
        <p:txBody>
          <a:bodyPr vert="horz" lIns="182880" tIns="91440" rIns="182880" bIns="9144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6000" dirty="0">
                <a:solidFill>
                  <a:schemeClr val="tx1"/>
                </a:solidFill>
                <a:effectLst/>
              </a:rPr>
              <a:t>“</a:t>
            </a:r>
          </a:p>
        </p:txBody>
      </p:sp>
      <p:sp>
        <p:nvSpPr>
          <p:cNvPr id="13" name="TextBox 12"/>
          <p:cNvSpPr txBox="1"/>
          <p:nvPr/>
        </p:nvSpPr>
        <p:spPr>
          <a:xfrm>
            <a:off x="21012167" y="5856516"/>
            <a:ext cx="1219359" cy="1169552"/>
          </a:xfrm>
          <a:prstGeom prst="rect">
            <a:avLst/>
          </a:prstGeom>
        </p:spPr>
        <p:txBody>
          <a:bodyPr vert="horz" lIns="182880" tIns="91440" rIns="182880" bIns="9144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6000" dirty="0">
                <a:solidFill>
                  <a:schemeClr val="tx1"/>
                </a:solidFill>
                <a:effectLst/>
              </a:rPr>
              <a:t>”</a:t>
            </a:r>
          </a:p>
        </p:txBody>
      </p:sp>
    </p:spTree>
    <p:extLst>
      <p:ext uri="{BB962C8B-B14F-4D97-AF65-F5344CB8AC3E}">
        <p14:creationId xmlns:p14="http://schemas.microsoft.com/office/powerpoint/2010/main" val="27036039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827827" y="4253885"/>
            <a:ext cx="20710222" cy="5023670"/>
          </a:xfrm>
        </p:spPr>
        <p:txBody>
          <a:bodyPr anchor="b"/>
          <a:lstStyle>
            <a:lvl1pPr>
              <a:defRPr sz="6400"/>
            </a:lvl1pPr>
          </a:lstStyle>
          <a:p>
            <a:r>
              <a:rPr lang="en-US"/>
              <a:t>Click to edit Master title style</a:t>
            </a:r>
            <a:endParaRPr lang="en-US" dirty="0"/>
          </a:p>
        </p:txBody>
      </p:sp>
      <p:sp>
        <p:nvSpPr>
          <p:cNvPr id="4" name="Text Placeholder 3"/>
          <p:cNvSpPr>
            <a:spLocks noGrp="1"/>
          </p:cNvSpPr>
          <p:nvPr>
            <p:ph type="body" sz="half" idx="2"/>
          </p:nvPr>
        </p:nvSpPr>
        <p:spPr>
          <a:xfrm>
            <a:off x="1827807" y="9301112"/>
            <a:ext cx="20707094" cy="2281288"/>
          </a:xfrm>
        </p:spPr>
        <p:txBody>
          <a:bodyPr anchor="t"/>
          <a:lstStyle>
            <a:lvl1pPr marL="0" indent="0" algn="ctr">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56B8A43E-68BA-4332-95B4-321C605888C0}"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5070169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827828" y="1219200"/>
            <a:ext cx="20710220" cy="19409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827828" y="3771900"/>
            <a:ext cx="6602828" cy="1152524"/>
          </a:xfrm>
        </p:spPr>
        <p:txBody>
          <a:bodyPr anchor="b">
            <a:noAutofit/>
          </a:bodyPr>
          <a:lstStyle>
            <a:lvl1pPr marL="0" indent="0" algn="ctr">
              <a:buNone/>
              <a:defRPr sz="4800" b="0">
                <a:solidFill>
                  <a:schemeClr val="tx1"/>
                </a:solidFill>
              </a:defRPr>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8" name="Text Placeholder 3"/>
          <p:cNvSpPr>
            <a:spLocks noGrp="1"/>
          </p:cNvSpPr>
          <p:nvPr>
            <p:ph type="body" sz="half" idx="15"/>
          </p:nvPr>
        </p:nvSpPr>
        <p:spPr>
          <a:xfrm>
            <a:off x="1827828" y="5143500"/>
            <a:ext cx="6602828" cy="6438900"/>
          </a:xfrm>
        </p:spPr>
        <p:txBody>
          <a:bodyPr anchor="t">
            <a:normAutofit/>
          </a:bodyPr>
          <a:lstStyle>
            <a:lvl1pPr marL="0" indent="0" algn="ctr">
              <a:buNone/>
              <a:defRPr sz="28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9" name="Text Placeholder 4"/>
          <p:cNvSpPr>
            <a:spLocks noGrp="1"/>
          </p:cNvSpPr>
          <p:nvPr>
            <p:ph type="body" sz="quarter" idx="3"/>
          </p:nvPr>
        </p:nvSpPr>
        <p:spPr>
          <a:xfrm>
            <a:off x="8894580" y="3771900"/>
            <a:ext cx="6602828" cy="1152524"/>
          </a:xfrm>
        </p:spPr>
        <p:txBody>
          <a:bodyPr anchor="b">
            <a:noAutofit/>
          </a:bodyPr>
          <a:lstStyle>
            <a:lvl1pPr marL="0" indent="0" algn="ctr">
              <a:buNone/>
              <a:defRPr sz="4800" b="0">
                <a:solidFill>
                  <a:schemeClr val="tx1"/>
                </a:solidFill>
              </a:defRPr>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10" name="Text Placeholder 3"/>
          <p:cNvSpPr>
            <a:spLocks noGrp="1"/>
          </p:cNvSpPr>
          <p:nvPr>
            <p:ph type="body" sz="half" idx="16"/>
          </p:nvPr>
        </p:nvSpPr>
        <p:spPr>
          <a:xfrm>
            <a:off x="8884026" y="5143500"/>
            <a:ext cx="6602828" cy="6438900"/>
          </a:xfrm>
        </p:spPr>
        <p:txBody>
          <a:bodyPr anchor="t">
            <a:normAutofit/>
          </a:bodyPr>
          <a:lstStyle>
            <a:lvl1pPr marL="0" indent="0" algn="ctr">
              <a:buNone/>
              <a:defRPr sz="28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11" name="Text Placeholder 4"/>
          <p:cNvSpPr>
            <a:spLocks noGrp="1"/>
          </p:cNvSpPr>
          <p:nvPr>
            <p:ph type="body" sz="quarter" idx="13"/>
          </p:nvPr>
        </p:nvSpPr>
        <p:spPr>
          <a:xfrm>
            <a:off x="15935218" y="3771900"/>
            <a:ext cx="6602828" cy="1152524"/>
          </a:xfrm>
        </p:spPr>
        <p:txBody>
          <a:bodyPr anchor="b">
            <a:noAutofit/>
          </a:bodyPr>
          <a:lstStyle>
            <a:lvl1pPr marL="0" indent="0" algn="ctr">
              <a:buNone/>
              <a:defRPr sz="4800" b="0">
                <a:solidFill>
                  <a:schemeClr val="tx1"/>
                </a:solidFill>
              </a:defRPr>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12" name="Text Placeholder 3"/>
          <p:cNvSpPr>
            <a:spLocks noGrp="1"/>
          </p:cNvSpPr>
          <p:nvPr>
            <p:ph type="body" sz="half" idx="17"/>
          </p:nvPr>
        </p:nvSpPr>
        <p:spPr>
          <a:xfrm>
            <a:off x="15935218" y="5143500"/>
            <a:ext cx="6602828" cy="6438900"/>
          </a:xfrm>
        </p:spPr>
        <p:txBody>
          <a:bodyPr anchor="t">
            <a:normAutofit/>
          </a:bodyPr>
          <a:lstStyle>
            <a:lvl1pPr marL="0" indent="0" algn="ctr">
              <a:buNone/>
              <a:defRPr sz="28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3" name="Date Placeholder 2"/>
          <p:cNvSpPr>
            <a:spLocks noGrp="1"/>
          </p:cNvSpPr>
          <p:nvPr>
            <p:ph type="dt" sz="half" idx="10"/>
          </p:nvPr>
        </p:nvSpPr>
        <p:spPr/>
        <p:txBody>
          <a:bodyPr/>
          <a:lstStyle/>
          <a:p>
            <a:fld id="{56B8A43E-68BA-4332-95B4-321C605888C0}" type="datetimeFigureOut">
              <a:rPr lang="en-IN" smtClean="0"/>
              <a:t>24-11-2025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25341572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6158" y="3636429"/>
            <a:ext cx="6680814" cy="3695702"/>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8747" y="3636429"/>
            <a:ext cx="6680814" cy="3695702"/>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74169" y="3636429"/>
            <a:ext cx="6680814" cy="3695702"/>
          </a:xfrm>
          <a:prstGeom prst="rect">
            <a:avLst/>
          </a:prstGeom>
        </p:spPr>
      </p:pic>
      <p:sp>
        <p:nvSpPr>
          <p:cNvPr id="30" name="Title 1"/>
          <p:cNvSpPr>
            <a:spLocks noGrp="1"/>
          </p:cNvSpPr>
          <p:nvPr>
            <p:ph type="title"/>
          </p:nvPr>
        </p:nvSpPr>
        <p:spPr>
          <a:xfrm>
            <a:off x="1827827" y="1219200"/>
            <a:ext cx="20710222" cy="19409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827828" y="7808212"/>
            <a:ext cx="6602828" cy="1152524"/>
          </a:xfrm>
        </p:spPr>
        <p:txBody>
          <a:bodyPr anchor="b">
            <a:noAutofit/>
          </a:bodyPr>
          <a:lstStyle>
            <a:lvl1pPr marL="0" indent="0" algn="ctr">
              <a:buNone/>
              <a:defRPr sz="4000" b="0">
                <a:solidFill>
                  <a:schemeClr val="tx1"/>
                </a:solidFill>
              </a:defRPr>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20" name="Picture Placeholder 2"/>
          <p:cNvSpPr>
            <a:spLocks noGrp="1" noChangeAspect="1"/>
          </p:cNvSpPr>
          <p:nvPr>
            <p:ph type="pic" idx="15"/>
          </p:nvPr>
        </p:nvSpPr>
        <p:spPr>
          <a:xfrm>
            <a:off x="2036469" y="3877836"/>
            <a:ext cx="6185541" cy="3205908"/>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3200"/>
            </a:lvl1pPr>
            <a:lvl2pPr marL="914400" indent="0">
              <a:buNone/>
              <a:defRPr sz="3200"/>
            </a:lvl2pPr>
            <a:lvl3pPr marL="1828800" indent="0">
              <a:buNone/>
              <a:defRPr sz="3200"/>
            </a:lvl3pPr>
            <a:lvl4pPr marL="2743200" indent="0">
              <a:buNone/>
              <a:defRPr sz="3200"/>
            </a:lvl4pPr>
            <a:lvl5pPr marL="3657600" indent="0">
              <a:buNone/>
              <a:defRPr sz="3200"/>
            </a:lvl5pPr>
            <a:lvl6pPr marL="4572000" indent="0">
              <a:buNone/>
              <a:defRPr sz="3200"/>
            </a:lvl6pPr>
            <a:lvl7pPr marL="5486400" indent="0">
              <a:buNone/>
              <a:defRPr sz="3200"/>
            </a:lvl7pPr>
            <a:lvl8pPr marL="6400800" indent="0">
              <a:buNone/>
              <a:defRPr sz="3200"/>
            </a:lvl8pPr>
            <a:lvl9pPr marL="7315200" indent="0">
              <a:buNone/>
              <a:defRPr sz="3200"/>
            </a:lvl9pPr>
          </a:lstStyle>
          <a:p>
            <a:r>
              <a:rPr lang="en-US"/>
              <a:t>Click icon to add picture</a:t>
            </a:r>
            <a:endParaRPr lang="en-US" dirty="0"/>
          </a:p>
        </p:txBody>
      </p:sp>
      <p:sp>
        <p:nvSpPr>
          <p:cNvPr id="21" name="Text Placeholder 3"/>
          <p:cNvSpPr>
            <a:spLocks noGrp="1"/>
          </p:cNvSpPr>
          <p:nvPr>
            <p:ph type="body" sz="half" idx="18"/>
          </p:nvPr>
        </p:nvSpPr>
        <p:spPr>
          <a:xfrm>
            <a:off x="1827828" y="8960737"/>
            <a:ext cx="6602828" cy="2621666"/>
          </a:xfrm>
        </p:spPr>
        <p:txBody>
          <a:bodyPr anchor="t">
            <a:normAutofit/>
          </a:bodyPr>
          <a:lstStyle>
            <a:lvl1pPr marL="0" indent="0" algn="ctr">
              <a:buNone/>
              <a:defRPr sz="28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22" name="Text Placeholder 4"/>
          <p:cNvSpPr>
            <a:spLocks noGrp="1"/>
          </p:cNvSpPr>
          <p:nvPr>
            <p:ph type="body" sz="quarter" idx="3"/>
          </p:nvPr>
        </p:nvSpPr>
        <p:spPr>
          <a:xfrm>
            <a:off x="8886733" y="7808212"/>
            <a:ext cx="6602828" cy="1152524"/>
          </a:xfrm>
        </p:spPr>
        <p:txBody>
          <a:bodyPr anchor="b">
            <a:noAutofit/>
          </a:bodyPr>
          <a:lstStyle>
            <a:lvl1pPr marL="0" indent="0" algn="ctr">
              <a:buNone/>
              <a:defRPr sz="4000" b="0">
                <a:solidFill>
                  <a:schemeClr val="tx1"/>
                </a:solidFill>
              </a:defRPr>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23" name="Picture Placeholder 2"/>
          <p:cNvSpPr>
            <a:spLocks noGrp="1" noChangeAspect="1"/>
          </p:cNvSpPr>
          <p:nvPr>
            <p:ph type="pic" idx="21"/>
          </p:nvPr>
        </p:nvSpPr>
        <p:spPr>
          <a:xfrm>
            <a:off x="9092670" y="3878188"/>
            <a:ext cx="6185541" cy="3216328"/>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3200"/>
            </a:lvl1pPr>
            <a:lvl2pPr marL="914400" indent="0">
              <a:buNone/>
              <a:defRPr sz="3200"/>
            </a:lvl2pPr>
            <a:lvl3pPr marL="1828800" indent="0">
              <a:buNone/>
              <a:defRPr sz="3200"/>
            </a:lvl3pPr>
            <a:lvl4pPr marL="2743200" indent="0">
              <a:buNone/>
              <a:defRPr sz="3200"/>
            </a:lvl4pPr>
            <a:lvl5pPr marL="3657600" indent="0">
              <a:buNone/>
              <a:defRPr sz="3200"/>
            </a:lvl5pPr>
            <a:lvl6pPr marL="4572000" indent="0">
              <a:buNone/>
              <a:defRPr sz="3200"/>
            </a:lvl6pPr>
            <a:lvl7pPr marL="5486400" indent="0">
              <a:buNone/>
              <a:defRPr sz="3200"/>
            </a:lvl7pPr>
            <a:lvl8pPr marL="6400800" indent="0">
              <a:buNone/>
              <a:defRPr sz="3200"/>
            </a:lvl8pPr>
            <a:lvl9pPr marL="7315200" indent="0">
              <a:buNone/>
              <a:defRPr sz="3200"/>
            </a:lvl9pPr>
          </a:lstStyle>
          <a:p>
            <a:r>
              <a:rPr lang="en-US"/>
              <a:t>Click icon to add picture</a:t>
            </a:r>
            <a:endParaRPr lang="en-US" dirty="0"/>
          </a:p>
        </p:txBody>
      </p:sp>
      <p:sp>
        <p:nvSpPr>
          <p:cNvPr id="24" name="Text Placeholder 3"/>
          <p:cNvSpPr>
            <a:spLocks noGrp="1"/>
          </p:cNvSpPr>
          <p:nvPr>
            <p:ph type="body" sz="half" idx="19"/>
          </p:nvPr>
        </p:nvSpPr>
        <p:spPr>
          <a:xfrm>
            <a:off x="8884026" y="8960735"/>
            <a:ext cx="6602828" cy="2621666"/>
          </a:xfrm>
        </p:spPr>
        <p:txBody>
          <a:bodyPr anchor="t">
            <a:normAutofit/>
          </a:bodyPr>
          <a:lstStyle>
            <a:lvl1pPr marL="0" indent="0" algn="ctr">
              <a:buNone/>
              <a:defRPr sz="28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25" name="Text Placeholder 4"/>
          <p:cNvSpPr>
            <a:spLocks noGrp="1"/>
          </p:cNvSpPr>
          <p:nvPr>
            <p:ph type="body" sz="quarter" idx="13"/>
          </p:nvPr>
        </p:nvSpPr>
        <p:spPr>
          <a:xfrm>
            <a:off x="15935468" y="7808212"/>
            <a:ext cx="6602828" cy="1152524"/>
          </a:xfrm>
        </p:spPr>
        <p:txBody>
          <a:bodyPr anchor="b">
            <a:noAutofit/>
          </a:bodyPr>
          <a:lstStyle>
            <a:lvl1pPr marL="0" indent="0" algn="ctr">
              <a:buNone/>
              <a:defRPr sz="4000" b="0">
                <a:solidFill>
                  <a:schemeClr val="tx1"/>
                </a:solidFill>
              </a:defRPr>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26" name="Picture Placeholder 2"/>
          <p:cNvSpPr>
            <a:spLocks noGrp="1" noChangeAspect="1"/>
          </p:cNvSpPr>
          <p:nvPr>
            <p:ph type="pic" idx="22"/>
          </p:nvPr>
        </p:nvSpPr>
        <p:spPr>
          <a:xfrm>
            <a:off x="16153499" y="3868864"/>
            <a:ext cx="6185541" cy="3214588"/>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3200"/>
            </a:lvl1pPr>
            <a:lvl2pPr marL="914400" indent="0">
              <a:buNone/>
              <a:defRPr sz="3200"/>
            </a:lvl2pPr>
            <a:lvl3pPr marL="1828800" indent="0">
              <a:buNone/>
              <a:defRPr sz="3200"/>
            </a:lvl3pPr>
            <a:lvl4pPr marL="2743200" indent="0">
              <a:buNone/>
              <a:defRPr sz="3200"/>
            </a:lvl4pPr>
            <a:lvl5pPr marL="3657600" indent="0">
              <a:buNone/>
              <a:defRPr sz="3200"/>
            </a:lvl5pPr>
            <a:lvl6pPr marL="4572000" indent="0">
              <a:buNone/>
              <a:defRPr sz="3200"/>
            </a:lvl6pPr>
            <a:lvl7pPr marL="5486400" indent="0">
              <a:buNone/>
              <a:defRPr sz="3200"/>
            </a:lvl7pPr>
            <a:lvl8pPr marL="6400800" indent="0">
              <a:buNone/>
              <a:defRPr sz="3200"/>
            </a:lvl8pPr>
            <a:lvl9pPr marL="7315200" indent="0">
              <a:buNone/>
              <a:defRPr sz="3200"/>
            </a:lvl9pPr>
          </a:lstStyle>
          <a:p>
            <a:r>
              <a:rPr lang="en-US"/>
              <a:t>Click icon to add picture</a:t>
            </a:r>
            <a:endParaRPr lang="en-US" dirty="0"/>
          </a:p>
        </p:txBody>
      </p:sp>
      <p:sp>
        <p:nvSpPr>
          <p:cNvPr id="27" name="Text Placeholder 3"/>
          <p:cNvSpPr>
            <a:spLocks noGrp="1"/>
          </p:cNvSpPr>
          <p:nvPr>
            <p:ph type="body" sz="half" idx="20"/>
          </p:nvPr>
        </p:nvSpPr>
        <p:spPr>
          <a:xfrm>
            <a:off x="15935218" y="8960731"/>
            <a:ext cx="6602828" cy="2621670"/>
          </a:xfrm>
        </p:spPr>
        <p:txBody>
          <a:bodyPr anchor="t">
            <a:normAutofit/>
          </a:bodyPr>
          <a:lstStyle>
            <a:lvl1pPr marL="0" indent="0" algn="ctr">
              <a:buNone/>
              <a:defRPr sz="28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3" name="Date Placeholder 2"/>
          <p:cNvSpPr>
            <a:spLocks noGrp="1"/>
          </p:cNvSpPr>
          <p:nvPr>
            <p:ph type="dt" sz="half" idx="10"/>
          </p:nvPr>
        </p:nvSpPr>
        <p:spPr/>
        <p:txBody>
          <a:bodyPr/>
          <a:lstStyle/>
          <a:p>
            <a:fld id="{56B8A43E-68BA-4332-95B4-321C605888C0}" type="datetimeFigureOut">
              <a:rPr lang="en-IN" smtClean="0"/>
              <a:t>24-11-2025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11362082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B8A43E-68BA-4332-95B4-321C605888C0}"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7504908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968476" y="1219199"/>
            <a:ext cx="4569569" cy="10363202"/>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827830" y="1219199"/>
            <a:ext cx="15835806" cy="1036320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B8A43E-68BA-4332-95B4-321C605888C0}"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4D5A4A-592F-4DC5-B03B-4699AF22ACBA}" type="slidenum">
              <a:rPr lang="en-IN" smtClean="0"/>
              <a:t>‹#›</a:t>
            </a:fld>
            <a:endParaRPr lang="en-IN"/>
          </a:p>
        </p:txBody>
      </p:sp>
    </p:spTree>
    <p:extLst>
      <p:ext uri="{BB962C8B-B14F-4D97-AF65-F5344CB8AC3E}">
        <p14:creationId xmlns:p14="http://schemas.microsoft.com/office/powerpoint/2010/main" val="9093087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27828" y="1219200"/>
            <a:ext cx="20710220" cy="19409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827828" y="3464899"/>
            <a:ext cx="20710220" cy="8117502"/>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359472" y="11766551"/>
            <a:ext cx="5487114" cy="730250"/>
          </a:xfrm>
          <a:prstGeom prst="rect">
            <a:avLst/>
          </a:prstGeom>
        </p:spPr>
        <p:txBody>
          <a:bodyPr vert="horz" lIns="91440" tIns="45720" rIns="91440" bIns="45720" rtlCol="0" anchor="ctr"/>
          <a:lstStyle>
            <a:lvl1pPr algn="r">
              <a:defRPr sz="2000">
                <a:solidFill>
                  <a:schemeClr val="tx1">
                    <a:lumMod val="95000"/>
                  </a:schemeClr>
                </a:solidFill>
                <a:effectLst>
                  <a:outerShdw blurRad="50800" dist="38100" dir="2700000" algn="tl" rotWithShape="0">
                    <a:schemeClr val="bg1">
                      <a:alpha val="43000"/>
                    </a:schemeClr>
                  </a:outerShdw>
                </a:effectLst>
              </a:defRPr>
            </a:lvl1pPr>
          </a:lstStyle>
          <a:p>
            <a:fld id="{56B8A43E-68BA-4332-95B4-321C605888C0}" type="datetimeFigureOut">
              <a:rPr lang="en-IN" smtClean="0"/>
              <a:t>24-11-2025</a:t>
            </a:fld>
            <a:endParaRPr lang="en-IN"/>
          </a:p>
        </p:txBody>
      </p:sp>
      <p:sp>
        <p:nvSpPr>
          <p:cNvPr id="5" name="Footer Placeholder 4"/>
          <p:cNvSpPr>
            <a:spLocks noGrp="1"/>
          </p:cNvSpPr>
          <p:nvPr>
            <p:ph type="ftr" sz="quarter" idx="3"/>
          </p:nvPr>
        </p:nvSpPr>
        <p:spPr>
          <a:xfrm>
            <a:off x="1827829" y="11766551"/>
            <a:ext cx="13347468" cy="730250"/>
          </a:xfrm>
          <a:prstGeom prst="rect">
            <a:avLst/>
          </a:prstGeom>
        </p:spPr>
        <p:txBody>
          <a:bodyPr vert="horz" lIns="91440" tIns="45720" rIns="91440" bIns="45720" rtlCol="0" anchor="ctr"/>
          <a:lstStyle>
            <a:lvl1pPr algn="l">
              <a:defRPr sz="2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21030761" y="11766551"/>
            <a:ext cx="1507286" cy="730250"/>
          </a:xfrm>
          <a:prstGeom prst="rect">
            <a:avLst/>
          </a:prstGeom>
        </p:spPr>
        <p:txBody>
          <a:bodyPr vert="horz" lIns="91440" tIns="45720" rIns="91440" bIns="45720" rtlCol="0" anchor="ctr"/>
          <a:lstStyle>
            <a:lvl1pPr algn="r">
              <a:defRPr sz="2000">
                <a:solidFill>
                  <a:schemeClr val="tx1">
                    <a:lumMod val="95000"/>
                  </a:schemeClr>
                </a:solidFill>
                <a:effectLst>
                  <a:outerShdw blurRad="50800" dist="38100" dir="2700000" algn="tl" rotWithShape="0">
                    <a:schemeClr val="bg1">
                      <a:alpha val="43000"/>
                    </a:schemeClr>
                  </a:outerShdw>
                </a:effectLst>
              </a:defRPr>
            </a:lvl1pPr>
          </a:lstStyle>
          <a:p>
            <a:fld id="{7C4D5A4A-592F-4DC5-B03B-4699AF22ACBA}" type="slidenum">
              <a:rPr lang="en-IN" smtClean="0"/>
              <a:t>‹#›</a:t>
            </a:fld>
            <a:endParaRPr lang="en-IN"/>
          </a:p>
        </p:txBody>
      </p:sp>
    </p:spTree>
    <p:extLst>
      <p:ext uri="{BB962C8B-B14F-4D97-AF65-F5344CB8AC3E}">
        <p14:creationId xmlns:p14="http://schemas.microsoft.com/office/powerpoint/2010/main" val="124765501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xStyles>
    <p:titleStyle>
      <a:lvl1pPr algn="ctr" defTabSz="914400" rtl="0" eaLnBrk="1" latinLnBrk="0" hangingPunct="1">
        <a:spcBef>
          <a:spcPct val="0"/>
        </a:spcBef>
        <a:buNone/>
        <a:defRPr sz="8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685800" indent="-612000" algn="l" defTabSz="914400" rtl="0" eaLnBrk="1" latinLnBrk="0" hangingPunct="1">
        <a:spcBef>
          <a:spcPct val="20000"/>
        </a:spcBef>
        <a:spcAft>
          <a:spcPts val="1200"/>
        </a:spcAft>
        <a:buClr>
          <a:schemeClr val="tx2"/>
        </a:buClr>
        <a:buSzPct val="70000"/>
        <a:buFont typeface="Wingdings 2" charset="2"/>
        <a:buChar char=""/>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1440000" indent="-540000" algn="l" defTabSz="914400" rtl="0" eaLnBrk="1" latinLnBrk="0" hangingPunct="1">
        <a:spcBef>
          <a:spcPct val="20000"/>
        </a:spcBef>
        <a:spcAft>
          <a:spcPts val="1200"/>
        </a:spcAft>
        <a:buClr>
          <a:schemeClr val="tx2"/>
        </a:buClr>
        <a:buSzPct val="70000"/>
        <a:buFont typeface="Wingdings 2" charset="2"/>
        <a:buChar char=""/>
        <a:defRPr sz="3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2052000" indent="-432000" algn="l" defTabSz="914400" rtl="0" eaLnBrk="1" latinLnBrk="0" hangingPunct="1">
        <a:spcBef>
          <a:spcPct val="20000"/>
        </a:spcBef>
        <a:spcAft>
          <a:spcPts val="1200"/>
        </a:spcAft>
        <a:buClr>
          <a:schemeClr val="tx2"/>
        </a:buClr>
        <a:buSzPct val="70000"/>
        <a:buFont typeface="Wingdings 2" charset="2"/>
        <a:buChar char=""/>
        <a:defRPr sz="3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2772000" indent="-432000" algn="l" defTabSz="914400" rtl="0" eaLnBrk="1" latinLnBrk="0" hangingPunct="1">
        <a:spcBef>
          <a:spcPct val="20000"/>
        </a:spcBef>
        <a:spcAft>
          <a:spcPts val="1200"/>
        </a:spcAft>
        <a:buClr>
          <a:schemeClr val="tx2"/>
        </a:buClr>
        <a:buSzPct val="70000"/>
        <a:buFont typeface="Wingdings 2" charset="2"/>
        <a:buChar char=""/>
        <a:defRPr sz="2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3348000" indent="-432000" algn="l" defTabSz="914400" rtl="0" eaLnBrk="1" latinLnBrk="0" hangingPunct="1">
        <a:spcBef>
          <a:spcPct val="20000"/>
        </a:spcBef>
        <a:spcAft>
          <a:spcPts val="1200"/>
        </a:spcAft>
        <a:buClr>
          <a:schemeClr val="tx2"/>
        </a:buClr>
        <a:buSzPct val="70000"/>
        <a:buFont typeface="Wingdings 2" charset="2"/>
        <a:buChar char=""/>
        <a:defRPr sz="2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4029200" indent="-457200" algn="l" defTabSz="914400" rtl="0" eaLnBrk="1" latinLnBrk="0" hangingPunct="1">
        <a:spcBef>
          <a:spcPct val="20000"/>
        </a:spcBef>
        <a:spcAft>
          <a:spcPts val="1200"/>
        </a:spcAft>
        <a:buClr>
          <a:schemeClr val="tx2"/>
        </a:buClr>
        <a:buSzPct val="70000"/>
        <a:buFont typeface="Wingdings 2" charset="2"/>
        <a:buChar char=""/>
        <a:defRPr sz="2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4803600" indent="-457200" algn="l" defTabSz="914400" rtl="0" eaLnBrk="1" latinLnBrk="0" hangingPunct="1">
        <a:spcBef>
          <a:spcPct val="20000"/>
        </a:spcBef>
        <a:spcAft>
          <a:spcPts val="1200"/>
        </a:spcAft>
        <a:buClr>
          <a:schemeClr val="tx2"/>
        </a:buClr>
        <a:buSzPct val="70000"/>
        <a:buFont typeface="Wingdings 2" charset="2"/>
        <a:buChar char=""/>
        <a:defRPr sz="2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5578000" indent="-457200" algn="l" defTabSz="914400" rtl="0" eaLnBrk="1" latinLnBrk="0" hangingPunct="1">
        <a:spcBef>
          <a:spcPct val="20000"/>
        </a:spcBef>
        <a:spcAft>
          <a:spcPts val="1200"/>
        </a:spcAft>
        <a:buClr>
          <a:schemeClr val="tx2"/>
        </a:buClr>
        <a:buSzPct val="70000"/>
        <a:buFont typeface="Wingdings 2" charset="2"/>
        <a:buChar char=""/>
        <a:defRPr sz="2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6212400" indent="-457200" algn="l" defTabSz="914400" rtl="0" eaLnBrk="1" latinLnBrk="0" hangingPunct="1">
        <a:spcBef>
          <a:spcPct val="20000"/>
        </a:spcBef>
        <a:spcAft>
          <a:spcPts val="1200"/>
        </a:spcAft>
        <a:buClr>
          <a:schemeClr val="tx2"/>
        </a:buClr>
        <a:buSzPct val="70000"/>
        <a:buFont typeface="Wingdings 2" charset="2"/>
        <a:buChar char=""/>
        <a:defRPr sz="2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08AC4F-CF89-8456-4897-916DA2DEC4DB}"/>
              </a:ext>
            </a:extLst>
          </p:cNvPr>
          <p:cNvSpPr txBox="1"/>
          <p:nvPr/>
        </p:nvSpPr>
        <p:spPr>
          <a:xfrm>
            <a:off x="2777080" y="3650917"/>
            <a:ext cx="18833014" cy="1647310"/>
          </a:xfrm>
          <a:prstGeom prst="rect">
            <a:avLst/>
          </a:prstGeom>
          <a:noFill/>
        </p:spPr>
        <p:txBody>
          <a:bodyPr wrap="square" rtlCol="0" anchor="t">
            <a:spAutoFit/>
          </a:bodyPr>
          <a:lstStyle/>
          <a:p>
            <a:pPr algn="ctr">
              <a:lnSpc>
                <a:spcPct val="200000"/>
              </a:lnSpc>
            </a:pPr>
            <a:r>
              <a:rPr lang="en-US" sz="5800" dirty="0">
                <a:solidFill>
                  <a:schemeClr val="accent2">
                    <a:lumMod val="75000"/>
                  </a:schemeClr>
                </a:solidFill>
                <a:latin typeface="Spotify Mix" panose="020B0504040202020203" pitchFamily="34" charset="0"/>
              </a:rPr>
              <a:t>Customer</a:t>
            </a:r>
            <a:r>
              <a:rPr lang="en-US" sz="5800" dirty="0">
                <a:latin typeface="Spotify Mix" panose="020B0504040202020203" pitchFamily="34" charset="0"/>
              </a:rPr>
              <a:t>, </a:t>
            </a:r>
            <a:r>
              <a:rPr lang="en-US" sz="5800" dirty="0">
                <a:solidFill>
                  <a:schemeClr val="accent2">
                    <a:lumMod val="75000"/>
                  </a:schemeClr>
                </a:solidFill>
                <a:latin typeface="Spotify Mix" panose="020B0504040202020203" pitchFamily="34" charset="0"/>
              </a:rPr>
              <a:t>Order</a:t>
            </a:r>
            <a:r>
              <a:rPr lang="en-US" sz="5800" dirty="0">
                <a:latin typeface="Spotify Mix" panose="020B0504040202020203" pitchFamily="34" charset="0"/>
              </a:rPr>
              <a:t> and </a:t>
            </a:r>
            <a:r>
              <a:rPr lang="en-US" sz="5800" dirty="0">
                <a:solidFill>
                  <a:schemeClr val="accent2">
                    <a:lumMod val="75000"/>
                  </a:schemeClr>
                </a:solidFill>
                <a:latin typeface="Spotify Mix" panose="020B0504040202020203" pitchFamily="34" charset="0"/>
              </a:rPr>
              <a:t>Return</a:t>
            </a:r>
            <a:r>
              <a:rPr lang="en-US" sz="5800" dirty="0">
                <a:latin typeface="Spotify Mix" panose="020B0504040202020203" pitchFamily="34" charset="0"/>
              </a:rPr>
              <a:t> Performance Dashboard</a:t>
            </a:r>
            <a:endParaRPr lang="en-IN" sz="5800" dirty="0">
              <a:latin typeface="Spotify Mix" panose="020B0504040202020203" pitchFamily="34" charset="0"/>
            </a:endParaRPr>
          </a:p>
        </p:txBody>
      </p:sp>
      <p:sp>
        <p:nvSpPr>
          <p:cNvPr id="2" name="TextBox 1">
            <a:extLst>
              <a:ext uri="{FF2B5EF4-FFF2-40B4-BE49-F238E27FC236}">
                <a16:creationId xmlns:a16="http://schemas.microsoft.com/office/drawing/2014/main" id="{EB81D32E-7A9E-B462-8707-720ACE5CEF35}"/>
              </a:ext>
            </a:extLst>
          </p:cNvPr>
          <p:cNvSpPr txBox="1"/>
          <p:nvPr/>
        </p:nvSpPr>
        <p:spPr>
          <a:xfrm>
            <a:off x="4553735" y="5997720"/>
            <a:ext cx="17056359" cy="2210220"/>
          </a:xfrm>
          <a:prstGeom prst="rect">
            <a:avLst/>
          </a:prstGeom>
          <a:noFill/>
        </p:spPr>
        <p:txBody>
          <a:bodyPr wrap="square" rtlCol="0" anchor="t">
            <a:spAutoFit/>
          </a:bodyPr>
          <a:lstStyle/>
          <a:p>
            <a:pPr algn="r">
              <a:lnSpc>
                <a:spcPct val="150000"/>
              </a:lnSpc>
            </a:pPr>
            <a:r>
              <a:rPr lang="en-US" sz="4800" dirty="0">
                <a:latin typeface="Spotify Mix" panose="020B0504040202020203" pitchFamily="34" charset="0"/>
              </a:rPr>
              <a:t>-Objective: To analyze customer behavior, order performance and return patterns.</a:t>
            </a:r>
            <a:endParaRPr lang="en-IN" sz="4800" dirty="0">
              <a:latin typeface="Spotify Mix" panose="020B0504040202020203" pitchFamily="34" charset="0"/>
            </a:endParaRPr>
          </a:p>
        </p:txBody>
      </p:sp>
      <p:sp>
        <p:nvSpPr>
          <p:cNvPr id="3" name="TextBox 2">
            <a:extLst>
              <a:ext uri="{FF2B5EF4-FFF2-40B4-BE49-F238E27FC236}">
                <a16:creationId xmlns:a16="http://schemas.microsoft.com/office/drawing/2014/main" id="{A50C5BDE-C8FE-DD39-E237-B61C4724328A}"/>
              </a:ext>
            </a:extLst>
          </p:cNvPr>
          <p:cNvSpPr txBox="1"/>
          <p:nvPr/>
        </p:nvSpPr>
        <p:spPr>
          <a:xfrm>
            <a:off x="19201788" y="8907433"/>
            <a:ext cx="2408306" cy="1379224"/>
          </a:xfrm>
          <a:prstGeom prst="rect">
            <a:avLst/>
          </a:prstGeom>
          <a:noFill/>
        </p:spPr>
        <p:txBody>
          <a:bodyPr wrap="square" rtlCol="0" anchor="t">
            <a:spAutoFit/>
          </a:bodyPr>
          <a:lstStyle/>
          <a:p>
            <a:pPr algn="ctr">
              <a:lnSpc>
                <a:spcPct val="200000"/>
              </a:lnSpc>
            </a:pPr>
            <a:r>
              <a:rPr lang="en-US" sz="4800" dirty="0">
                <a:latin typeface="Spotify Mix" panose="020B0504040202020203" pitchFamily="34" charset="0"/>
              </a:rPr>
              <a:t>- Manik</a:t>
            </a:r>
            <a:endParaRPr lang="en-IN" sz="4800" dirty="0">
              <a:latin typeface="Spotify Mix" panose="020B0504040202020203" pitchFamily="34" charset="0"/>
            </a:endParaRPr>
          </a:p>
        </p:txBody>
      </p:sp>
    </p:spTree>
    <p:extLst>
      <p:ext uri="{BB962C8B-B14F-4D97-AF65-F5344CB8AC3E}">
        <p14:creationId xmlns:p14="http://schemas.microsoft.com/office/powerpoint/2010/main" val="4937261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AC709-0CF1-0958-13CF-F9F18797B7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D441379-B73B-51AB-7EE6-29248C55AA0B}"/>
              </a:ext>
            </a:extLst>
          </p:cNvPr>
          <p:cNvSpPr txBox="1"/>
          <p:nvPr/>
        </p:nvSpPr>
        <p:spPr>
          <a:xfrm>
            <a:off x="4358238" y="171426"/>
            <a:ext cx="4379094" cy="1379224"/>
          </a:xfrm>
          <a:prstGeom prst="rect">
            <a:avLst/>
          </a:prstGeom>
          <a:noFill/>
        </p:spPr>
        <p:txBody>
          <a:bodyPr wrap="square" rtlCol="0" anchor="t">
            <a:spAutoFit/>
          </a:bodyPr>
          <a:lstStyle/>
          <a:p>
            <a:pPr algn="ctr">
              <a:lnSpc>
                <a:spcPct val="200000"/>
              </a:lnSpc>
            </a:pPr>
            <a:r>
              <a:rPr lang="en-US" sz="4800" b="1" dirty="0">
                <a:latin typeface="Spotify Mix" panose="020B0504040202020203" pitchFamily="34" charset="0"/>
              </a:rPr>
              <a:t>Tools used </a:t>
            </a:r>
            <a:r>
              <a:rPr lang="en-US" sz="4800" dirty="0">
                <a:latin typeface="Spotify Mix" panose="020B0504040202020203" pitchFamily="34" charset="0"/>
              </a:rPr>
              <a:t>:</a:t>
            </a:r>
            <a:endParaRPr lang="en-IN" sz="4800" dirty="0">
              <a:latin typeface="Spotify Mix" panose="020B0504040202020203" pitchFamily="34" charset="0"/>
            </a:endParaRPr>
          </a:p>
        </p:txBody>
      </p:sp>
      <p:sp>
        <p:nvSpPr>
          <p:cNvPr id="2" name="TextBox 1">
            <a:extLst>
              <a:ext uri="{FF2B5EF4-FFF2-40B4-BE49-F238E27FC236}">
                <a16:creationId xmlns:a16="http://schemas.microsoft.com/office/drawing/2014/main" id="{8A6250EB-3C81-20D3-D6A1-8FB308E9ABC1}"/>
              </a:ext>
            </a:extLst>
          </p:cNvPr>
          <p:cNvSpPr txBox="1"/>
          <p:nvPr/>
        </p:nvSpPr>
        <p:spPr>
          <a:xfrm>
            <a:off x="8889732" y="448425"/>
            <a:ext cx="13014988" cy="1102225"/>
          </a:xfrm>
          <a:prstGeom prst="rect">
            <a:avLst/>
          </a:prstGeom>
          <a:noFill/>
        </p:spPr>
        <p:txBody>
          <a:bodyPr wrap="square" rtlCol="0" anchor="t">
            <a:spAutoFit/>
          </a:bodyPr>
          <a:lstStyle/>
          <a:p>
            <a:pPr>
              <a:lnSpc>
                <a:spcPct val="150000"/>
              </a:lnSpc>
            </a:pPr>
            <a:r>
              <a:rPr lang="en-US" sz="4800" dirty="0">
                <a:latin typeface="Spotify Mix" panose="020B0504040202020203" pitchFamily="34" charset="0"/>
              </a:rPr>
              <a:t>- </a:t>
            </a:r>
            <a:r>
              <a:rPr lang="en-US" sz="4800" dirty="0">
                <a:solidFill>
                  <a:schemeClr val="tx1">
                    <a:lumMod val="85000"/>
                  </a:schemeClr>
                </a:solidFill>
                <a:latin typeface="Spotify Mix" panose="020B0504040202020203" pitchFamily="34" charset="0"/>
              </a:rPr>
              <a:t>Power Bi      </a:t>
            </a:r>
            <a:r>
              <a:rPr lang="en-US" sz="4800" dirty="0">
                <a:latin typeface="Spotify Mix" panose="020B0504040202020203" pitchFamily="34" charset="0"/>
              </a:rPr>
              <a:t>- </a:t>
            </a:r>
            <a:r>
              <a:rPr lang="en-US" sz="4800" dirty="0">
                <a:solidFill>
                  <a:schemeClr val="tx1">
                    <a:lumMod val="85000"/>
                  </a:schemeClr>
                </a:solidFill>
                <a:latin typeface="Spotify Mix" panose="020B0504040202020203" pitchFamily="34" charset="0"/>
              </a:rPr>
              <a:t>DAX</a:t>
            </a:r>
            <a:r>
              <a:rPr lang="en-US" sz="4800" dirty="0">
                <a:latin typeface="Spotify Mix" panose="020B0504040202020203" pitchFamily="34" charset="0"/>
              </a:rPr>
              <a:t>      - </a:t>
            </a:r>
            <a:r>
              <a:rPr lang="en-US" sz="4800" dirty="0">
                <a:solidFill>
                  <a:schemeClr val="tx1">
                    <a:lumMod val="85000"/>
                  </a:schemeClr>
                </a:solidFill>
                <a:latin typeface="Spotify Mix" panose="020B0504040202020203" pitchFamily="34" charset="0"/>
              </a:rPr>
              <a:t>Power Point</a:t>
            </a:r>
          </a:p>
        </p:txBody>
      </p:sp>
      <p:cxnSp>
        <p:nvCxnSpPr>
          <p:cNvPr id="8" name="Straight Connector 7">
            <a:extLst>
              <a:ext uri="{FF2B5EF4-FFF2-40B4-BE49-F238E27FC236}">
                <a16:creationId xmlns:a16="http://schemas.microsoft.com/office/drawing/2014/main" id="{DC8FC6EA-8F4D-ED00-6406-F51F35C659AF}"/>
              </a:ext>
            </a:extLst>
          </p:cNvPr>
          <p:cNvCxnSpPr/>
          <p:nvPr/>
        </p:nvCxnSpPr>
        <p:spPr>
          <a:xfrm>
            <a:off x="198783" y="1908315"/>
            <a:ext cx="23714765" cy="0"/>
          </a:xfrm>
          <a:prstGeom prst="line">
            <a:avLst/>
          </a:prstGeom>
          <a:ln w="3175">
            <a:solidFill>
              <a:schemeClr val="tx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79800DB-39ED-90F0-4055-64331974D1E3}"/>
              </a:ext>
            </a:extLst>
          </p:cNvPr>
          <p:cNvSpPr txBox="1"/>
          <p:nvPr/>
        </p:nvSpPr>
        <p:spPr>
          <a:xfrm>
            <a:off x="16057486" y="4472609"/>
            <a:ext cx="7856062" cy="9520876"/>
          </a:xfrm>
          <a:prstGeom prst="rect">
            <a:avLst/>
          </a:prstGeom>
          <a:noFill/>
        </p:spPr>
        <p:txBody>
          <a:bodyPr wrap="square" rtlCol="0">
            <a:spAutoFit/>
          </a:bodyPr>
          <a:lstStyle/>
          <a:p>
            <a:pPr algn="ctr">
              <a:lnSpc>
                <a:spcPct val="150000"/>
              </a:lnSpc>
            </a:pPr>
            <a:r>
              <a:rPr lang="en-US" sz="4000" dirty="0">
                <a:latin typeface="Spotify Mix" panose="020B0504040202020203" pitchFamily="34" charset="0"/>
              </a:rPr>
              <a:t>- </a:t>
            </a:r>
            <a:r>
              <a:rPr lang="en-US" sz="4000" dirty="0">
                <a:solidFill>
                  <a:schemeClr val="accent6">
                    <a:lumMod val="75000"/>
                  </a:schemeClr>
                </a:solidFill>
                <a:latin typeface="Spotify Mix" panose="020B0504040202020203" pitchFamily="34" charset="0"/>
              </a:rPr>
              <a:t>Return Data</a:t>
            </a:r>
          </a:p>
          <a:p>
            <a:pPr marL="571500" indent="-571500">
              <a:lnSpc>
                <a:spcPct val="150000"/>
              </a:lnSpc>
              <a:buFontTx/>
              <a:buChar char="-"/>
            </a:pPr>
            <a:r>
              <a:rPr lang="en-IN" sz="3600" dirty="0">
                <a:latin typeface="Spotify Mix" panose="020B0504040202020203" pitchFamily="34" charset="0"/>
              </a:rPr>
              <a:t>4 columns.</a:t>
            </a:r>
          </a:p>
          <a:p>
            <a:pPr marL="571500" indent="-571500">
              <a:lnSpc>
                <a:spcPct val="150000"/>
              </a:lnSpc>
              <a:buFontTx/>
              <a:buChar char="-"/>
            </a:pPr>
            <a:r>
              <a:rPr lang="en-IN" sz="3600" dirty="0">
                <a:latin typeface="Spotify Mix" panose="020B0504040202020203" pitchFamily="34" charset="0"/>
              </a:rPr>
              <a:t>100 rows.</a:t>
            </a:r>
          </a:p>
          <a:p>
            <a:pPr marL="571500" indent="-571500">
              <a:lnSpc>
                <a:spcPct val="150000"/>
              </a:lnSpc>
              <a:buFontTx/>
              <a:buChar char="-"/>
            </a:pPr>
            <a:r>
              <a:rPr lang="en-IN" sz="3600" dirty="0">
                <a:latin typeface="Spotify Mix" panose="020B0504040202020203" pitchFamily="34" charset="0"/>
              </a:rPr>
              <a:t>2 years of data[2023, 24].</a:t>
            </a:r>
          </a:p>
          <a:p>
            <a:pPr marL="571500" indent="-571500">
              <a:lnSpc>
                <a:spcPct val="150000"/>
              </a:lnSpc>
              <a:buFontTx/>
              <a:buChar char="-"/>
            </a:pPr>
            <a:r>
              <a:rPr lang="en-IN" sz="3600" dirty="0">
                <a:latin typeface="Spotify Mix" panose="020B0504040202020203" pitchFamily="34" charset="0"/>
              </a:rPr>
              <a:t>97 Unique order id’s.</a:t>
            </a:r>
          </a:p>
          <a:p>
            <a:pPr marL="571500" indent="-571500">
              <a:lnSpc>
                <a:spcPct val="150000"/>
              </a:lnSpc>
              <a:buFontTx/>
              <a:buChar char="-"/>
            </a:pPr>
            <a:r>
              <a:rPr lang="en-IN" sz="3600" dirty="0">
                <a:latin typeface="Spotify Mix" panose="020B0504040202020203" pitchFamily="34" charset="0"/>
              </a:rPr>
              <a:t>4 return reasons.</a:t>
            </a:r>
            <a:endParaRPr lang="en-IN" sz="2800" dirty="0">
              <a:latin typeface="Spotify Mix" panose="020B0504040202020203" pitchFamily="34" charset="0"/>
            </a:endParaRPr>
          </a:p>
          <a:p>
            <a:pPr marL="571500" indent="-571500">
              <a:lnSpc>
                <a:spcPct val="150000"/>
              </a:lnSpc>
              <a:buFontTx/>
              <a:buChar char="-"/>
            </a:pPr>
            <a:r>
              <a:rPr lang="en-IN" sz="3600" dirty="0">
                <a:latin typeface="Spotify Mix" panose="020B0504040202020203" pitchFamily="34" charset="0"/>
              </a:rPr>
              <a:t>3 return status.</a:t>
            </a:r>
          </a:p>
          <a:p>
            <a:pPr>
              <a:lnSpc>
                <a:spcPct val="150000"/>
              </a:lnSpc>
            </a:pPr>
            <a:endParaRPr lang="en-IN" sz="2800" dirty="0">
              <a:latin typeface="Spotify Mix" panose="020B0504040202020203" pitchFamily="34" charset="0"/>
            </a:endParaRPr>
          </a:p>
          <a:p>
            <a:pPr marL="571500" indent="-571500">
              <a:lnSpc>
                <a:spcPct val="150000"/>
              </a:lnSpc>
              <a:buFontTx/>
              <a:buChar char="-"/>
            </a:pPr>
            <a:endParaRPr lang="en-IN" sz="4000" dirty="0">
              <a:latin typeface="Spotify Mix" panose="020B0504040202020203" pitchFamily="34" charset="0"/>
            </a:endParaRPr>
          </a:p>
          <a:p>
            <a:pPr marL="571500" indent="-571500">
              <a:lnSpc>
                <a:spcPct val="150000"/>
              </a:lnSpc>
              <a:buFontTx/>
              <a:buChar char="-"/>
            </a:pPr>
            <a:endParaRPr lang="en-IN" sz="4000" dirty="0">
              <a:latin typeface="Spotify Mix" panose="020B0504040202020203" pitchFamily="34" charset="0"/>
            </a:endParaRPr>
          </a:p>
          <a:p>
            <a:pPr marL="571500" indent="-571500">
              <a:lnSpc>
                <a:spcPct val="150000"/>
              </a:lnSpc>
              <a:buFontTx/>
              <a:buChar char="-"/>
            </a:pPr>
            <a:endParaRPr lang="en-IN" sz="4000" dirty="0">
              <a:latin typeface="Spotify Mix" panose="020B0504040202020203" pitchFamily="34" charset="0"/>
            </a:endParaRPr>
          </a:p>
        </p:txBody>
      </p:sp>
      <p:grpSp>
        <p:nvGrpSpPr>
          <p:cNvPr id="29" name="Group 28">
            <a:extLst>
              <a:ext uri="{FF2B5EF4-FFF2-40B4-BE49-F238E27FC236}">
                <a16:creationId xmlns:a16="http://schemas.microsoft.com/office/drawing/2014/main" id="{C6EF6A31-41D9-7E1B-1D8D-346B80944BA8}"/>
              </a:ext>
            </a:extLst>
          </p:cNvPr>
          <p:cNvGrpSpPr/>
          <p:nvPr/>
        </p:nvGrpSpPr>
        <p:grpSpPr>
          <a:xfrm>
            <a:off x="881270" y="4472609"/>
            <a:ext cx="7856062" cy="12567864"/>
            <a:chOff x="881270" y="4472609"/>
            <a:chExt cx="7856062" cy="12567864"/>
          </a:xfrm>
        </p:grpSpPr>
        <p:sp>
          <p:nvSpPr>
            <p:cNvPr id="9" name="TextBox 8">
              <a:extLst>
                <a:ext uri="{FF2B5EF4-FFF2-40B4-BE49-F238E27FC236}">
                  <a16:creationId xmlns:a16="http://schemas.microsoft.com/office/drawing/2014/main" id="{8F6D9426-247C-C7D3-3B4F-CFC5F5EA4928}"/>
                </a:ext>
              </a:extLst>
            </p:cNvPr>
            <p:cNvSpPr txBox="1"/>
            <p:nvPr/>
          </p:nvSpPr>
          <p:spPr>
            <a:xfrm>
              <a:off x="881270" y="4472609"/>
              <a:ext cx="7856062" cy="12567864"/>
            </a:xfrm>
            <a:prstGeom prst="rect">
              <a:avLst/>
            </a:prstGeom>
            <a:noFill/>
          </p:spPr>
          <p:txBody>
            <a:bodyPr wrap="square" rtlCol="0">
              <a:spAutoFit/>
            </a:bodyPr>
            <a:lstStyle/>
            <a:p>
              <a:pPr algn="ctr">
                <a:lnSpc>
                  <a:spcPct val="150000"/>
                </a:lnSpc>
              </a:pPr>
              <a:r>
                <a:rPr lang="en-US" sz="4000" dirty="0">
                  <a:latin typeface="Spotify Mix" panose="020B0504040202020203" pitchFamily="34" charset="0"/>
                </a:rPr>
                <a:t>- </a:t>
              </a:r>
              <a:r>
                <a:rPr lang="en-US" sz="4000" dirty="0">
                  <a:solidFill>
                    <a:schemeClr val="accent6">
                      <a:lumMod val="75000"/>
                    </a:schemeClr>
                  </a:solidFill>
                  <a:latin typeface="Spotify Mix" panose="020B0504040202020203" pitchFamily="34" charset="0"/>
                </a:rPr>
                <a:t>Customer Data</a:t>
              </a:r>
            </a:p>
            <a:p>
              <a:pPr marL="571500" indent="-571500">
                <a:lnSpc>
                  <a:spcPct val="150000"/>
                </a:lnSpc>
                <a:buFontTx/>
                <a:buChar char="-"/>
              </a:pPr>
              <a:r>
                <a:rPr lang="en-IN" sz="3600" dirty="0">
                  <a:latin typeface="Spotify Mix" panose="020B0504040202020203" pitchFamily="34" charset="0"/>
                </a:rPr>
                <a:t>8 columns.</a:t>
              </a:r>
            </a:p>
            <a:p>
              <a:pPr marL="571500" indent="-571500">
                <a:lnSpc>
                  <a:spcPct val="150000"/>
                </a:lnSpc>
                <a:buFontTx/>
                <a:buChar char="-"/>
              </a:pPr>
              <a:r>
                <a:rPr lang="en-IN" sz="3600" dirty="0">
                  <a:latin typeface="Spotify Mix" panose="020B0504040202020203" pitchFamily="34" charset="0"/>
                </a:rPr>
                <a:t>500 rows.</a:t>
              </a:r>
            </a:p>
            <a:p>
              <a:pPr marL="571500" indent="-571500">
                <a:lnSpc>
                  <a:spcPct val="150000"/>
                </a:lnSpc>
                <a:buFontTx/>
                <a:buChar char="-"/>
              </a:pPr>
              <a:r>
                <a:rPr lang="en-IN" sz="3600" dirty="0">
                  <a:latin typeface="Spotify Mix" panose="020B0504040202020203" pitchFamily="34" charset="0"/>
                </a:rPr>
                <a:t>3 years of data[</a:t>
              </a:r>
              <a:r>
                <a:rPr lang="en-IN" sz="3600">
                  <a:latin typeface="Spotify Mix" panose="020B0504040202020203" pitchFamily="34" charset="0"/>
                </a:rPr>
                <a:t>2020, 21, 22</a:t>
              </a:r>
              <a:r>
                <a:rPr lang="en-IN" sz="3600" dirty="0">
                  <a:latin typeface="Spotify Mix" panose="020B0504040202020203" pitchFamily="34" charset="0"/>
                </a:rPr>
                <a:t>].</a:t>
              </a:r>
            </a:p>
            <a:p>
              <a:pPr marL="571500" indent="-571500">
                <a:lnSpc>
                  <a:spcPct val="150000"/>
                </a:lnSpc>
                <a:buFontTx/>
                <a:buChar char="-"/>
              </a:pPr>
              <a:r>
                <a:rPr lang="en-IN" sz="3600" dirty="0">
                  <a:latin typeface="Spotify Mix" panose="020B0504040202020203" pitchFamily="34" charset="0"/>
                </a:rPr>
                <a:t>500 Unique customer id’s.</a:t>
              </a:r>
            </a:p>
            <a:p>
              <a:pPr marL="571500" indent="-571500">
                <a:lnSpc>
                  <a:spcPct val="150000"/>
                </a:lnSpc>
                <a:buFontTx/>
                <a:buChar char="-"/>
              </a:pPr>
              <a:r>
                <a:rPr lang="en-IN" sz="3600" dirty="0">
                  <a:latin typeface="Spotify Mix" panose="020B0504040202020203" pitchFamily="34" charset="0"/>
                </a:rPr>
                <a:t>Only 1 country data i.e., India.</a:t>
              </a:r>
            </a:p>
            <a:p>
              <a:pPr marL="571500" indent="-571500">
                <a:lnSpc>
                  <a:spcPct val="150000"/>
                </a:lnSpc>
                <a:buFontTx/>
                <a:buChar char="-"/>
              </a:pPr>
              <a:r>
                <a:rPr lang="en-IN" sz="3600" dirty="0">
                  <a:latin typeface="Spotify Mix" panose="020B0504040202020203" pitchFamily="34" charset="0"/>
                </a:rPr>
                <a:t>3 segments.</a:t>
              </a:r>
            </a:p>
            <a:p>
              <a:pPr marL="1943100" lvl="3" indent="-571500">
                <a:lnSpc>
                  <a:spcPct val="150000"/>
                </a:lnSpc>
                <a:buFontTx/>
                <a:buChar char="-"/>
              </a:pPr>
              <a:r>
                <a:rPr lang="en-IN" sz="2800" dirty="0">
                  <a:latin typeface="Spotify Mix" panose="020B0504040202020203" pitchFamily="34" charset="0"/>
                </a:rPr>
                <a:t>Consumer, Corporate, Home office.</a:t>
              </a:r>
            </a:p>
            <a:p>
              <a:pPr marL="571500" indent="-571500">
                <a:lnSpc>
                  <a:spcPct val="150000"/>
                </a:lnSpc>
                <a:buFontTx/>
                <a:buChar char="-"/>
              </a:pPr>
              <a:r>
                <a:rPr lang="en-IN" sz="3600" dirty="0">
                  <a:latin typeface="Spotify Mix" panose="020B0504040202020203" pitchFamily="34" charset="0"/>
                </a:rPr>
                <a:t>7 cities.</a:t>
              </a:r>
            </a:p>
            <a:p>
              <a:pPr marL="1943100" lvl="3" indent="-571500">
                <a:lnSpc>
                  <a:spcPct val="150000"/>
                </a:lnSpc>
                <a:buFontTx/>
                <a:buChar char="-"/>
              </a:pPr>
              <a:r>
                <a:rPr lang="en-IN" sz="2800" dirty="0">
                  <a:latin typeface="Spotify Mix" panose="020B0504040202020203" pitchFamily="34" charset="0"/>
                </a:rPr>
                <a:t>Ben, Chen, Delhi, Hyd, Kol, Mum, Pune.</a:t>
              </a:r>
            </a:p>
            <a:p>
              <a:pPr marL="571500" indent="-571500">
                <a:lnSpc>
                  <a:spcPct val="150000"/>
                </a:lnSpc>
                <a:buFontTx/>
                <a:buChar char="-"/>
              </a:pPr>
              <a:endParaRPr lang="en-IN" sz="4000" dirty="0">
                <a:latin typeface="Spotify Mix" panose="020B0504040202020203" pitchFamily="34" charset="0"/>
              </a:endParaRPr>
            </a:p>
            <a:p>
              <a:pPr marL="571500" indent="-571500">
                <a:lnSpc>
                  <a:spcPct val="150000"/>
                </a:lnSpc>
                <a:buFontTx/>
                <a:buChar char="-"/>
              </a:pPr>
              <a:endParaRPr lang="en-IN" sz="4000" dirty="0">
                <a:latin typeface="Spotify Mix" panose="020B0504040202020203" pitchFamily="34" charset="0"/>
              </a:endParaRPr>
            </a:p>
            <a:p>
              <a:pPr marL="571500" indent="-571500">
                <a:lnSpc>
                  <a:spcPct val="150000"/>
                </a:lnSpc>
                <a:buFontTx/>
                <a:buChar char="-"/>
              </a:pPr>
              <a:endParaRPr lang="en-IN" sz="4000" dirty="0">
                <a:latin typeface="Spotify Mix" panose="020B0504040202020203" pitchFamily="34" charset="0"/>
              </a:endParaRPr>
            </a:p>
          </p:txBody>
        </p:sp>
        <p:cxnSp>
          <p:nvCxnSpPr>
            <p:cNvPr id="19" name="Straight Connector 18">
              <a:extLst>
                <a:ext uri="{FF2B5EF4-FFF2-40B4-BE49-F238E27FC236}">
                  <a16:creationId xmlns:a16="http://schemas.microsoft.com/office/drawing/2014/main" id="{8391D112-A901-31E7-F5F1-7CED9C82B2CA}"/>
                </a:ext>
              </a:extLst>
            </p:cNvPr>
            <p:cNvCxnSpPr>
              <a:cxnSpLocks/>
            </p:cNvCxnSpPr>
            <p:nvPr/>
          </p:nvCxnSpPr>
          <p:spPr>
            <a:xfrm>
              <a:off x="8557067" y="4914900"/>
              <a:ext cx="0" cy="880110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D35534ED-5E1A-BF0C-6864-ADBB026B3089}"/>
              </a:ext>
            </a:extLst>
          </p:cNvPr>
          <p:cNvGrpSpPr/>
          <p:nvPr/>
        </p:nvGrpSpPr>
        <p:grpSpPr>
          <a:xfrm>
            <a:off x="8747567" y="4472609"/>
            <a:ext cx="7856062" cy="12013866"/>
            <a:chOff x="8747567" y="4472609"/>
            <a:chExt cx="7856062" cy="12013866"/>
          </a:xfrm>
        </p:grpSpPr>
        <p:sp>
          <p:nvSpPr>
            <p:cNvPr id="14" name="TextBox 13">
              <a:extLst>
                <a:ext uri="{FF2B5EF4-FFF2-40B4-BE49-F238E27FC236}">
                  <a16:creationId xmlns:a16="http://schemas.microsoft.com/office/drawing/2014/main" id="{F5CB829D-749E-FA18-B815-374EB8D02EA2}"/>
                </a:ext>
              </a:extLst>
            </p:cNvPr>
            <p:cNvSpPr txBox="1"/>
            <p:nvPr/>
          </p:nvSpPr>
          <p:spPr>
            <a:xfrm>
              <a:off x="8747567" y="4472609"/>
              <a:ext cx="7856062" cy="12013866"/>
            </a:xfrm>
            <a:prstGeom prst="rect">
              <a:avLst/>
            </a:prstGeom>
            <a:noFill/>
          </p:spPr>
          <p:txBody>
            <a:bodyPr wrap="square" rtlCol="0">
              <a:spAutoFit/>
            </a:bodyPr>
            <a:lstStyle/>
            <a:p>
              <a:pPr algn="ctr">
                <a:lnSpc>
                  <a:spcPct val="150000"/>
                </a:lnSpc>
              </a:pPr>
              <a:r>
                <a:rPr lang="en-US" sz="4000" dirty="0">
                  <a:latin typeface="Spotify Mix" panose="020B0504040202020203" pitchFamily="34" charset="0"/>
                </a:rPr>
                <a:t>- </a:t>
              </a:r>
              <a:r>
                <a:rPr lang="en-US" sz="4000" dirty="0">
                  <a:solidFill>
                    <a:schemeClr val="accent6">
                      <a:lumMod val="75000"/>
                    </a:schemeClr>
                  </a:solidFill>
                  <a:latin typeface="Spotify Mix" panose="020B0504040202020203" pitchFamily="34" charset="0"/>
                </a:rPr>
                <a:t>Order Data</a:t>
              </a:r>
            </a:p>
            <a:p>
              <a:pPr marL="571500" indent="-571500">
                <a:lnSpc>
                  <a:spcPct val="150000"/>
                </a:lnSpc>
                <a:buFontTx/>
                <a:buChar char="-"/>
              </a:pPr>
              <a:r>
                <a:rPr lang="en-IN" sz="3600" dirty="0">
                  <a:latin typeface="Spotify Mix" panose="020B0504040202020203" pitchFamily="34" charset="0"/>
                </a:rPr>
                <a:t>15 columns.</a:t>
              </a:r>
            </a:p>
            <a:p>
              <a:pPr marL="571500" indent="-571500">
                <a:lnSpc>
                  <a:spcPct val="150000"/>
                </a:lnSpc>
                <a:buFontTx/>
                <a:buChar char="-"/>
              </a:pPr>
              <a:r>
                <a:rPr lang="en-IN" sz="3600" dirty="0">
                  <a:latin typeface="Spotify Mix" panose="020B0504040202020203" pitchFamily="34" charset="0"/>
                </a:rPr>
                <a:t>1000 rows.</a:t>
              </a:r>
            </a:p>
            <a:p>
              <a:pPr marL="571500" indent="-571500">
                <a:lnSpc>
                  <a:spcPct val="150000"/>
                </a:lnSpc>
                <a:buFontTx/>
                <a:buChar char="-"/>
              </a:pPr>
              <a:r>
                <a:rPr lang="en-IN" sz="3600" dirty="0">
                  <a:latin typeface="Spotify Mix" panose="020B0504040202020203" pitchFamily="34" charset="0"/>
                </a:rPr>
                <a:t>1 year of data[2023].</a:t>
              </a:r>
            </a:p>
            <a:p>
              <a:pPr marL="571500" indent="-571500">
                <a:lnSpc>
                  <a:spcPct val="150000"/>
                </a:lnSpc>
                <a:buFontTx/>
                <a:buChar char="-"/>
              </a:pPr>
              <a:r>
                <a:rPr lang="en-IN" sz="3600" dirty="0">
                  <a:latin typeface="Spotify Mix" panose="020B0504040202020203" pitchFamily="34" charset="0"/>
                </a:rPr>
                <a:t>1000 Unique order id’s.</a:t>
              </a:r>
            </a:p>
            <a:p>
              <a:pPr marL="571500" indent="-571500">
                <a:lnSpc>
                  <a:spcPct val="150000"/>
                </a:lnSpc>
                <a:buFontTx/>
                <a:buChar char="-"/>
              </a:pPr>
              <a:r>
                <a:rPr lang="en-IN" sz="3600" dirty="0">
                  <a:latin typeface="Spotify Mix" panose="020B0504040202020203" pitchFamily="34" charset="0"/>
                </a:rPr>
                <a:t>Only 1 country data i.e., India.</a:t>
              </a:r>
            </a:p>
            <a:p>
              <a:pPr marL="571500" indent="-571500">
                <a:lnSpc>
                  <a:spcPct val="150000"/>
                </a:lnSpc>
                <a:buFontTx/>
                <a:buChar char="-"/>
              </a:pPr>
              <a:r>
                <a:rPr lang="en-IN" sz="3600" dirty="0">
                  <a:latin typeface="Spotify Mix" panose="020B0504040202020203" pitchFamily="34" charset="0"/>
                </a:rPr>
                <a:t>3 segments.</a:t>
              </a:r>
              <a:endParaRPr lang="en-IN" sz="2800" dirty="0">
                <a:latin typeface="Spotify Mix" panose="020B0504040202020203" pitchFamily="34" charset="0"/>
              </a:endParaRPr>
            </a:p>
            <a:p>
              <a:pPr marL="571500" indent="-571500">
                <a:lnSpc>
                  <a:spcPct val="150000"/>
                </a:lnSpc>
                <a:buFontTx/>
                <a:buChar char="-"/>
              </a:pPr>
              <a:r>
                <a:rPr lang="en-IN" sz="3600" dirty="0">
                  <a:latin typeface="Spotify Mix" panose="020B0504040202020203" pitchFamily="34" charset="0"/>
                </a:rPr>
                <a:t>7 cities.</a:t>
              </a:r>
            </a:p>
            <a:p>
              <a:pPr marL="571500" indent="-571500">
                <a:lnSpc>
                  <a:spcPct val="150000"/>
                </a:lnSpc>
                <a:buFontTx/>
                <a:buChar char="-"/>
              </a:pPr>
              <a:r>
                <a:rPr lang="en-IN" sz="3600" dirty="0">
                  <a:latin typeface="Spotify Mix" panose="020B0504040202020203" pitchFamily="34" charset="0"/>
                </a:rPr>
                <a:t>4 regions.</a:t>
              </a:r>
            </a:p>
            <a:p>
              <a:pPr marL="571500" indent="-571500">
                <a:lnSpc>
                  <a:spcPct val="150000"/>
                </a:lnSpc>
                <a:buFontTx/>
                <a:buChar char="-"/>
              </a:pPr>
              <a:r>
                <a:rPr lang="en-IN" sz="3600" dirty="0">
                  <a:latin typeface="Spotify Mix" panose="020B0504040202020203" pitchFamily="34" charset="0"/>
                </a:rPr>
                <a:t>3 category.</a:t>
              </a:r>
            </a:p>
            <a:p>
              <a:pPr marL="571500" indent="-571500">
                <a:lnSpc>
                  <a:spcPct val="150000"/>
                </a:lnSpc>
                <a:buFontTx/>
                <a:buChar char="-"/>
              </a:pPr>
              <a:r>
                <a:rPr lang="en-IN" sz="3600" dirty="0">
                  <a:latin typeface="Spotify Mix" panose="020B0504040202020203" pitchFamily="34" charset="0"/>
                </a:rPr>
                <a:t>5 sub-category.</a:t>
              </a:r>
              <a:endParaRPr lang="en-IN" sz="2800" dirty="0">
                <a:latin typeface="Spotify Mix" panose="020B0504040202020203" pitchFamily="34" charset="0"/>
              </a:endParaRPr>
            </a:p>
            <a:p>
              <a:pPr marL="571500" indent="-571500">
                <a:lnSpc>
                  <a:spcPct val="150000"/>
                </a:lnSpc>
                <a:buFontTx/>
                <a:buChar char="-"/>
              </a:pPr>
              <a:endParaRPr lang="en-IN" sz="4000" dirty="0">
                <a:latin typeface="Spotify Mix" panose="020B0504040202020203" pitchFamily="34" charset="0"/>
              </a:endParaRPr>
            </a:p>
            <a:p>
              <a:pPr marL="571500" indent="-571500">
                <a:lnSpc>
                  <a:spcPct val="150000"/>
                </a:lnSpc>
                <a:buFontTx/>
                <a:buChar char="-"/>
              </a:pPr>
              <a:endParaRPr lang="en-IN" sz="4000" dirty="0">
                <a:latin typeface="Spotify Mix" panose="020B0504040202020203" pitchFamily="34" charset="0"/>
              </a:endParaRPr>
            </a:p>
            <a:p>
              <a:pPr marL="571500" indent="-571500">
                <a:lnSpc>
                  <a:spcPct val="150000"/>
                </a:lnSpc>
                <a:buFontTx/>
                <a:buChar char="-"/>
              </a:pPr>
              <a:endParaRPr lang="en-IN" sz="4000" dirty="0">
                <a:latin typeface="Spotify Mix" panose="020B0504040202020203" pitchFamily="34" charset="0"/>
              </a:endParaRPr>
            </a:p>
          </p:txBody>
        </p:sp>
        <p:cxnSp>
          <p:nvCxnSpPr>
            <p:cNvPr id="21" name="Straight Connector 20">
              <a:extLst>
                <a:ext uri="{FF2B5EF4-FFF2-40B4-BE49-F238E27FC236}">
                  <a16:creationId xmlns:a16="http://schemas.microsoft.com/office/drawing/2014/main" id="{E0C35D48-676E-6078-1F34-D51FC5E81900}"/>
                </a:ext>
              </a:extLst>
            </p:cNvPr>
            <p:cNvCxnSpPr>
              <a:cxnSpLocks/>
            </p:cNvCxnSpPr>
            <p:nvPr/>
          </p:nvCxnSpPr>
          <p:spPr>
            <a:xfrm>
              <a:off x="15809836" y="4914900"/>
              <a:ext cx="0" cy="880110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86980246-E6E3-F22F-D417-46ECDCCD0B31}"/>
              </a:ext>
            </a:extLst>
          </p:cNvPr>
          <p:cNvGrpSpPr/>
          <p:nvPr/>
        </p:nvGrpSpPr>
        <p:grpSpPr>
          <a:xfrm>
            <a:off x="3749468" y="1384509"/>
            <a:ext cx="16888239" cy="2627706"/>
            <a:chOff x="3749468" y="1384509"/>
            <a:chExt cx="16888239" cy="2627706"/>
          </a:xfrm>
        </p:grpSpPr>
        <p:sp>
          <p:nvSpPr>
            <p:cNvPr id="4" name="TextBox 3">
              <a:extLst>
                <a:ext uri="{FF2B5EF4-FFF2-40B4-BE49-F238E27FC236}">
                  <a16:creationId xmlns:a16="http://schemas.microsoft.com/office/drawing/2014/main" id="{2A904041-F578-6B88-9097-B932A9965A8B}"/>
                </a:ext>
              </a:extLst>
            </p:cNvPr>
            <p:cNvSpPr txBox="1"/>
            <p:nvPr/>
          </p:nvSpPr>
          <p:spPr>
            <a:xfrm>
              <a:off x="7763371" y="1384509"/>
              <a:ext cx="7633855" cy="1647310"/>
            </a:xfrm>
            <a:prstGeom prst="rect">
              <a:avLst/>
            </a:prstGeom>
            <a:noFill/>
          </p:spPr>
          <p:txBody>
            <a:bodyPr wrap="square" rtlCol="0" anchor="t">
              <a:spAutoFit/>
            </a:bodyPr>
            <a:lstStyle/>
            <a:p>
              <a:pPr algn="ctr">
                <a:lnSpc>
                  <a:spcPct val="200000"/>
                </a:lnSpc>
              </a:pPr>
              <a:r>
                <a:rPr lang="en-US" sz="5800" dirty="0">
                  <a:latin typeface="Spotify Mix" panose="020B0504040202020203" pitchFamily="34" charset="0"/>
                </a:rPr>
                <a:t>Dataset Overview</a:t>
              </a:r>
              <a:endParaRPr lang="en-IN" sz="5800" dirty="0">
                <a:latin typeface="Spotify Mix" panose="020B0504040202020203" pitchFamily="34" charset="0"/>
              </a:endParaRPr>
            </a:p>
          </p:txBody>
        </p:sp>
        <p:sp>
          <p:nvSpPr>
            <p:cNvPr id="6" name="TextBox 5">
              <a:extLst>
                <a:ext uri="{FF2B5EF4-FFF2-40B4-BE49-F238E27FC236}">
                  <a16:creationId xmlns:a16="http://schemas.microsoft.com/office/drawing/2014/main" id="{07141532-F405-F5A3-7777-E80843C9D5EB}"/>
                </a:ext>
              </a:extLst>
            </p:cNvPr>
            <p:cNvSpPr txBox="1"/>
            <p:nvPr/>
          </p:nvSpPr>
          <p:spPr>
            <a:xfrm>
              <a:off x="3749468" y="3304329"/>
              <a:ext cx="16888239" cy="707886"/>
            </a:xfrm>
            <a:prstGeom prst="rect">
              <a:avLst/>
            </a:prstGeom>
            <a:noFill/>
          </p:spPr>
          <p:txBody>
            <a:bodyPr wrap="square" rtlCol="0">
              <a:spAutoFit/>
            </a:bodyPr>
            <a:lstStyle/>
            <a:p>
              <a:r>
                <a:rPr lang="en-US" sz="4000" dirty="0">
                  <a:latin typeface="Spotify Mix" panose="020B0504040202020203" pitchFamily="34" charset="0"/>
                </a:rPr>
                <a:t>Total 3 Datasets : 		1. Customer data		2. Order data		3. Return data</a:t>
              </a:r>
              <a:endParaRPr lang="en-IN" sz="4000" dirty="0">
                <a:latin typeface="Spotify Mix" panose="020B0504040202020203" pitchFamily="34" charset="0"/>
              </a:endParaRPr>
            </a:p>
          </p:txBody>
        </p:sp>
        <p:pic>
          <p:nvPicPr>
            <p:cNvPr id="23" name="Picture 22">
              <a:extLst>
                <a:ext uri="{FF2B5EF4-FFF2-40B4-BE49-F238E27FC236}">
                  <a16:creationId xmlns:a16="http://schemas.microsoft.com/office/drawing/2014/main" id="{AE90E781-6758-49C4-C788-8352D0A79E0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7156312" y="2090208"/>
              <a:ext cx="1214118" cy="912428"/>
            </a:xfrm>
            <a:prstGeom prst="rect">
              <a:avLst/>
            </a:prstGeom>
          </p:spPr>
        </p:pic>
      </p:grpSp>
      <p:pic>
        <p:nvPicPr>
          <p:cNvPr id="27" name="Picture 26">
            <a:extLst>
              <a:ext uri="{FF2B5EF4-FFF2-40B4-BE49-F238E27FC236}">
                <a16:creationId xmlns:a16="http://schemas.microsoft.com/office/drawing/2014/main" id="{B6F55C6B-1EBC-B09D-85D0-B2CFB892ED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16471" y="421664"/>
            <a:ext cx="1224110" cy="1256454"/>
          </a:xfrm>
          <a:prstGeom prst="rect">
            <a:avLst/>
          </a:prstGeom>
        </p:spPr>
      </p:pic>
    </p:spTree>
    <p:extLst>
      <p:ext uri="{BB962C8B-B14F-4D97-AF65-F5344CB8AC3E}">
        <p14:creationId xmlns:p14="http://schemas.microsoft.com/office/powerpoint/2010/main" val="26209876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D25B4-6A4E-41D4-4B94-9A4FD19FFD2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A5417AD-CAEC-EF5B-5075-276675403EF1}"/>
              </a:ext>
            </a:extLst>
          </p:cNvPr>
          <p:cNvSpPr txBox="1"/>
          <p:nvPr/>
        </p:nvSpPr>
        <p:spPr>
          <a:xfrm>
            <a:off x="10739980" y="355267"/>
            <a:ext cx="2309270" cy="1647310"/>
          </a:xfrm>
          <a:prstGeom prst="rect">
            <a:avLst/>
          </a:prstGeom>
          <a:noFill/>
        </p:spPr>
        <p:txBody>
          <a:bodyPr wrap="square" rtlCol="0" anchor="t">
            <a:spAutoFit/>
          </a:bodyPr>
          <a:lstStyle/>
          <a:p>
            <a:pPr algn="ctr">
              <a:lnSpc>
                <a:spcPct val="200000"/>
              </a:lnSpc>
            </a:pPr>
            <a:r>
              <a:rPr lang="en-US" sz="5800" dirty="0">
                <a:solidFill>
                  <a:schemeClr val="accent2">
                    <a:lumMod val="75000"/>
                  </a:schemeClr>
                </a:solidFill>
                <a:latin typeface="Spotify Mix" panose="020B0504040202020203" pitchFamily="34" charset="0"/>
              </a:rPr>
              <a:t>KPI’s</a:t>
            </a:r>
            <a:r>
              <a:rPr lang="en-US" sz="5800" dirty="0">
                <a:latin typeface="Spotify Mix" panose="020B0504040202020203" pitchFamily="34" charset="0"/>
              </a:rPr>
              <a:t> :</a:t>
            </a:r>
            <a:endParaRPr lang="en-IN" sz="5800" dirty="0">
              <a:latin typeface="Spotify Mix" panose="020B0504040202020203" pitchFamily="34" charset="0"/>
            </a:endParaRPr>
          </a:p>
        </p:txBody>
      </p:sp>
      <p:sp>
        <p:nvSpPr>
          <p:cNvPr id="6" name="TextBox 5">
            <a:extLst>
              <a:ext uri="{FF2B5EF4-FFF2-40B4-BE49-F238E27FC236}">
                <a16:creationId xmlns:a16="http://schemas.microsoft.com/office/drawing/2014/main" id="{F46E0627-C8E2-8F40-0AA1-1394CEB17D7B}"/>
              </a:ext>
            </a:extLst>
          </p:cNvPr>
          <p:cNvSpPr txBox="1"/>
          <p:nvPr/>
        </p:nvSpPr>
        <p:spPr>
          <a:xfrm>
            <a:off x="16765457" y="2663970"/>
            <a:ext cx="7983668" cy="5534207"/>
          </a:xfrm>
          <a:prstGeom prst="rect">
            <a:avLst/>
          </a:prstGeom>
          <a:noFill/>
        </p:spPr>
        <p:txBody>
          <a:bodyPr wrap="square" rtlCol="0" anchor="t">
            <a:spAutoFit/>
          </a:bodyPr>
          <a:lstStyle/>
          <a:p>
            <a:pPr marL="685800" indent="-685800">
              <a:lnSpc>
                <a:spcPct val="150000"/>
              </a:lnSpc>
              <a:buFontTx/>
              <a:buChar char="-"/>
            </a:pPr>
            <a:r>
              <a:rPr lang="en-US" sz="4800" dirty="0">
                <a:latin typeface="Spotify Mix" panose="020B0504040202020203" pitchFamily="34" charset="0"/>
              </a:rPr>
              <a:t>Total Return Orders.</a:t>
            </a:r>
            <a:endParaRPr lang="en-IN" sz="4800" dirty="0">
              <a:latin typeface="Spotify Mix" panose="020B0504040202020203" pitchFamily="34" charset="0"/>
            </a:endParaRPr>
          </a:p>
          <a:p>
            <a:pPr marL="685800" indent="-685800">
              <a:lnSpc>
                <a:spcPct val="150000"/>
              </a:lnSpc>
              <a:buFontTx/>
              <a:buChar char="-"/>
            </a:pPr>
            <a:r>
              <a:rPr lang="en-IN" sz="4800" dirty="0">
                <a:latin typeface="Spotify Mix" panose="020B0504040202020203" pitchFamily="34" charset="0"/>
              </a:rPr>
              <a:t>Percentage of Return Orders.</a:t>
            </a:r>
          </a:p>
          <a:p>
            <a:pPr>
              <a:lnSpc>
                <a:spcPct val="150000"/>
              </a:lnSpc>
            </a:pPr>
            <a:endParaRPr lang="en-IN" sz="4800" dirty="0">
              <a:latin typeface="Spotify Mix" panose="020B0504040202020203" pitchFamily="34" charset="0"/>
            </a:endParaRPr>
          </a:p>
          <a:p>
            <a:pPr marL="685800" indent="-685800">
              <a:lnSpc>
                <a:spcPct val="150000"/>
              </a:lnSpc>
              <a:buFontTx/>
              <a:buChar char="-"/>
            </a:pPr>
            <a:endParaRPr lang="en-US" sz="4800" dirty="0">
              <a:latin typeface="Spotify Mix" panose="020B0504040202020203" pitchFamily="34" charset="0"/>
            </a:endParaRPr>
          </a:p>
        </p:txBody>
      </p:sp>
      <p:grpSp>
        <p:nvGrpSpPr>
          <p:cNvPr id="12" name="Group 11">
            <a:extLst>
              <a:ext uri="{FF2B5EF4-FFF2-40B4-BE49-F238E27FC236}">
                <a16:creationId xmlns:a16="http://schemas.microsoft.com/office/drawing/2014/main" id="{F8233CE9-D2C0-0EB8-2847-35296E16807C}"/>
              </a:ext>
            </a:extLst>
          </p:cNvPr>
          <p:cNvGrpSpPr/>
          <p:nvPr/>
        </p:nvGrpSpPr>
        <p:grpSpPr>
          <a:xfrm>
            <a:off x="703132" y="2362200"/>
            <a:ext cx="6990565" cy="8439150"/>
            <a:chOff x="703132" y="2362200"/>
            <a:chExt cx="6990565" cy="8439150"/>
          </a:xfrm>
        </p:grpSpPr>
        <p:sp>
          <p:nvSpPr>
            <p:cNvPr id="2" name="TextBox 1">
              <a:extLst>
                <a:ext uri="{FF2B5EF4-FFF2-40B4-BE49-F238E27FC236}">
                  <a16:creationId xmlns:a16="http://schemas.microsoft.com/office/drawing/2014/main" id="{E0CE4609-F796-E7E0-9C80-0E684208956F}"/>
                </a:ext>
              </a:extLst>
            </p:cNvPr>
            <p:cNvSpPr txBox="1"/>
            <p:nvPr/>
          </p:nvSpPr>
          <p:spPr>
            <a:xfrm>
              <a:off x="703132" y="2892570"/>
              <a:ext cx="6990565" cy="4426212"/>
            </a:xfrm>
            <a:prstGeom prst="rect">
              <a:avLst/>
            </a:prstGeom>
            <a:noFill/>
          </p:spPr>
          <p:txBody>
            <a:bodyPr wrap="square" rtlCol="0" anchor="t">
              <a:spAutoFit/>
            </a:bodyPr>
            <a:lstStyle/>
            <a:p>
              <a:pPr marL="685800" indent="-685800">
                <a:lnSpc>
                  <a:spcPct val="150000"/>
                </a:lnSpc>
                <a:buFontTx/>
                <a:buChar char="-"/>
              </a:pPr>
              <a:r>
                <a:rPr lang="en-US" sz="4800" dirty="0">
                  <a:latin typeface="Spotify Mix" panose="020B0504040202020203" pitchFamily="34" charset="0"/>
                </a:rPr>
                <a:t>Total Customers.</a:t>
              </a:r>
              <a:endParaRPr lang="en-IN" sz="4800" dirty="0">
                <a:latin typeface="Spotify Mix" panose="020B0504040202020203" pitchFamily="34" charset="0"/>
              </a:endParaRPr>
            </a:p>
            <a:p>
              <a:pPr marL="685800" indent="-685800">
                <a:lnSpc>
                  <a:spcPct val="150000"/>
                </a:lnSpc>
                <a:buFontTx/>
                <a:buChar char="-"/>
              </a:pPr>
              <a:r>
                <a:rPr lang="en-IN" sz="4800" dirty="0">
                  <a:latin typeface="Spotify Mix" panose="020B0504040202020203" pitchFamily="34" charset="0"/>
                </a:rPr>
                <a:t>Repeat Customers.</a:t>
              </a:r>
            </a:p>
            <a:p>
              <a:pPr marL="685800" indent="-685800">
                <a:lnSpc>
                  <a:spcPct val="150000"/>
                </a:lnSpc>
                <a:buFontTx/>
                <a:buChar char="-"/>
              </a:pPr>
              <a:r>
                <a:rPr lang="en-IN" sz="4800" dirty="0">
                  <a:latin typeface="Spotify Mix" panose="020B0504040202020203" pitchFamily="34" charset="0"/>
                </a:rPr>
                <a:t>New Customers.</a:t>
              </a:r>
            </a:p>
            <a:p>
              <a:pPr marL="685800" indent="-685800">
                <a:lnSpc>
                  <a:spcPct val="150000"/>
                </a:lnSpc>
                <a:buFontTx/>
                <a:buChar char="-"/>
              </a:pPr>
              <a:endParaRPr lang="en-US" sz="4800" dirty="0">
                <a:latin typeface="Spotify Mix" panose="020B0504040202020203" pitchFamily="34" charset="0"/>
              </a:endParaRPr>
            </a:p>
          </p:txBody>
        </p:sp>
        <p:cxnSp>
          <p:nvCxnSpPr>
            <p:cNvPr id="8" name="Straight Connector 7">
              <a:extLst>
                <a:ext uri="{FF2B5EF4-FFF2-40B4-BE49-F238E27FC236}">
                  <a16:creationId xmlns:a16="http://schemas.microsoft.com/office/drawing/2014/main" id="{EF36A1DE-A8AE-ECDB-6E36-0CB6423F929A}"/>
                </a:ext>
              </a:extLst>
            </p:cNvPr>
            <p:cNvCxnSpPr>
              <a:cxnSpLocks/>
            </p:cNvCxnSpPr>
            <p:nvPr/>
          </p:nvCxnSpPr>
          <p:spPr>
            <a:xfrm>
              <a:off x="7181850" y="2362200"/>
              <a:ext cx="0" cy="8439150"/>
            </a:xfrm>
            <a:prstGeom prst="line">
              <a:avLst/>
            </a:prstGeom>
            <a:ln>
              <a:solidFill>
                <a:schemeClr val="tx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F2E84E2C-CE2C-F36C-C956-C34C7F95EBD8}"/>
              </a:ext>
            </a:extLst>
          </p:cNvPr>
          <p:cNvGrpSpPr/>
          <p:nvPr/>
        </p:nvGrpSpPr>
        <p:grpSpPr>
          <a:xfrm>
            <a:off x="7494793" y="2362200"/>
            <a:ext cx="9107618" cy="8439150"/>
            <a:chOff x="7494793" y="2362200"/>
            <a:chExt cx="9107618" cy="8439150"/>
          </a:xfrm>
        </p:grpSpPr>
        <p:sp>
          <p:nvSpPr>
            <p:cNvPr id="4" name="TextBox 3">
              <a:extLst>
                <a:ext uri="{FF2B5EF4-FFF2-40B4-BE49-F238E27FC236}">
                  <a16:creationId xmlns:a16="http://schemas.microsoft.com/office/drawing/2014/main" id="{A308CF9E-AEE9-D98A-B435-342296F294E1}"/>
                </a:ext>
              </a:extLst>
            </p:cNvPr>
            <p:cNvSpPr txBox="1"/>
            <p:nvPr/>
          </p:nvSpPr>
          <p:spPr>
            <a:xfrm>
              <a:off x="7494793" y="2663970"/>
              <a:ext cx="9107618" cy="7750199"/>
            </a:xfrm>
            <a:prstGeom prst="rect">
              <a:avLst/>
            </a:prstGeom>
            <a:noFill/>
          </p:spPr>
          <p:txBody>
            <a:bodyPr wrap="square" rtlCol="0" anchor="t">
              <a:spAutoFit/>
            </a:bodyPr>
            <a:lstStyle/>
            <a:p>
              <a:pPr marL="685800" indent="-685800">
                <a:lnSpc>
                  <a:spcPct val="150000"/>
                </a:lnSpc>
                <a:buFontTx/>
                <a:buChar char="-"/>
              </a:pPr>
              <a:r>
                <a:rPr lang="en-US" sz="4800" dirty="0">
                  <a:latin typeface="Spotify Mix" panose="020B0504040202020203" pitchFamily="34" charset="0"/>
                </a:rPr>
                <a:t>Total Orders.</a:t>
              </a:r>
              <a:endParaRPr lang="en-IN" sz="4800" dirty="0">
                <a:latin typeface="Spotify Mix" panose="020B0504040202020203" pitchFamily="34" charset="0"/>
              </a:endParaRPr>
            </a:p>
            <a:p>
              <a:pPr marL="685800" indent="-685800">
                <a:lnSpc>
                  <a:spcPct val="150000"/>
                </a:lnSpc>
                <a:buFontTx/>
                <a:buChar char="-"/>
              </a:pPr>
              <a:r>
                <a:rPr lang="en-IN" sz="4800" dirty="0">
                  <a:latin typeface="Spotify Mix" panose="020B0504040202020203" pitchFamily="34" charset="0"/>
                </a:rPr>
                <a:t>Total Profit.</a:t>
              </a:r>
            </a:p>
            <a:p>
              <a:pPr marL="685800" indent="-685800">
                <a:lnSpc>
                  <a:spcPct val="150000"/>
                </a:lnSpc>
                <a:buFontTx/>
                <a:buChar char="-"/>
              </a:pPr>
              <a:r>
                <a:rPr lang="en-IN" sz="4800" dirty="0">
                  <a:latin typeface="Spotify Mix" panose="020B0504040202020203" pitchFamily="34" charset="0"/>
                </a:rPr>
                <a:t>Total Sales.</a:t>
              </a:r>
            </a:p>
            <a:p>
              <a:pPr marL="685800" indent="-685800">
                <a:lnSpc>
                  <a:spcPct val="150000"/>
                </a:lnSpc>
                <a:buFontTx/>
                <a:buChar char="-"/>
              </a:pPr>
              <a:r>
                <a:rPr lang="en-IN" sz="4800" dirty="0">
                  <a:latin typeface="Spotify Mix" panose="020B0504040202020203" pitchFamily="34" charset="0"/>
                </a:rPr>
                <a:t>Repeat Orders Percentage.</a:t>
              </a:r>
            </a:p>
            <a:p>
              <a:pPr marL="685800" indent="-685800">
                <a:lnSpc>
                  <a:spcPct val="150000"/>
                </a:lnSpc>
                <a:buFontTx/>
                <a:buChar char="-"/>
              </a:pPr>
              <a:r>
                <a:rPr lang="en-IN" sz="4800" dirty="0">
                  <a:latin typeface="Spotify Mix" panose="020B0504040202020203" pitchFamily="34" charset="0"/>
                </a:rPr>
                <a:t>Discount Impact Percentage.</a:t>
              </a:r>
            </a:p>
            <a:p>
              <a:pPr marL="685800" indent="-685800">
                <a:lnSpc>
                  <a:spcPct val="150000"/>
                </a:lnSpc>
                <a:buFontTx/>
                <a:buChar char="-"/>
              </a:pPr>
              <a:r>
                <a:rPr lang="en-IN" sz="4800" dirty="0">
                  <a:latin typeface="Spotify Mix" panose="020B0504040202020203" pitchFamily="34" charset="0"/>
                </a:rPr>
                <a:t>Discount Impact </a:t>
              </a:r>
            </a:p>
          </p:txBody>
        </p:sp>
        <p:cxnSp>
          <p:nvCxnSpPr>
            <p:cNvPr id="9" name="Straight Connector 8">
              <a:extLst>
                <a:ext uri="{FF2B5EF4-FFF2-40B4-BE49-F238E27FC236}">
                  <a16:creationId xmlns:a16="http://schemas.microsoft.com/office/drawing/2014/main" id="{3D090C6D-746C-FBC8-6DC4-64C30DDC5899}"/>
                </a:ext>
              </a:extLst>
            </p:cNvPr>
            <p:cNvCxnSpPr>
              <a:cxnSpLocks/>
            </p:cNvCxnSpPr>
            <p:nvPr/>
          </p:nvCxnSpPr>
          <p:spPr>
            <a:xfrm>
              <a:off x="16403507" y="2362200"/>
              <a:ext cx="0" cy="8439150"/>
            </a:xfrm>
            <a:prstGeom prst="line">
              <a:avLst/>
            </a:prstGeom>
            <a:ln>
              <a:solidFill>
                <a:schemeClr val="tx1">
                  <a:lumMod val="6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345004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846CD-123E-3A4D-44A5-373055497F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655D287-F83D-252D-B88A-4353FB20E4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7175" cy="13653259"/>
          </a:xfrm>
          <a:prstGeom prst="rect">
            <a:avLst/>
          </a:prstGeom>
        </p:spPr>
      </p:pic>
    </p:spTree>
    <p:extLst>
      <p:ext uri="{BB962C8B-B14F-4D97-AF65-F5344CB8AC3E}">
        <p14:creationId xmlns:p14="http://schemas.microsoft.com/office/powerpoint/2010/main" val="6206158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A5787-D9AE-643C-60CD-721CA59843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D79D79-B3B2-40F3-8EA3-2FFB0764BADA}"/>
              </a:ext>
            </a:extLst>
          </p:cNvPr>
          <p:cNvSpPr txBox="1"/>
          <p:nvPr/>
        </p:nvSpPr>
        <p:spPr>
          <a:xfrm>
            <a:off x="10477500" y="480239"/>
            <a:ext cx="3114357" cy="984885"/>
          </a:xfrm>
          <a:prstGeom prst="rect">
            <a:avLst/>
          </a:prstGeom>
          <a:noFill/>
        </p:spPr>
        <p:txBody>
          <a:bodyPr wrap="square" rtlCol="0">
            <a:spAutoFit/>
          </a:bodyPr>
          <a:lstStyle/>
          <a:p>
            <a:pPr algn="ctr"/>
            <a:r>
              <a:rPr lang="en-US" sz="5800" dirty="0">
                <a:solidFill>
                  <a:schemeClr val="accent2">
                    <a:lumMod val="75000"/>
                  </a:schemeClr>
                </a:solidFill>
                <a:latin typeface="Spotify Mix" panose="020B0504040202020203" pitchFamily="34" charset="0"/>
              </a:rPr>
              <a:t>Insights</a:t>
            </a:r>
            <a:endParaRPr lang="en-IN" sz="5800" dirty="0">
              <a:solidFill>
                <a:schemeClr val="accent2">
                  <a:lumMod val="75000"/>
                </a:schemeClr>
              </a:solidFill>
              <a:latin typeface="Spotify Mix" panose="020B0504040202020203" pitchFamily="34" charset="0"/>
            </a:endParaRPr>
          </a:p>
        </p:txBody>
      </p:sp>
      <p:sp>
        <p:nvSpPr>
          <p:cNvPr id="3" name="TextBox 2">
            <a:extLst>
              <a:ext uri="{FF2B5EF4-FFF2-40B4-BE49-F238E27FC236}">
                <a16:creationId xmlns:a16="http://schemas.microsoft.com/office/drawing/2014/main" id="{12A97EAA-8A89-881C-97F9-910392B3E00A}"/>
              </a:ext>
            </a:extLst>
          </p:cNvPr>
          <p:cNvSpPr txBox="1"/>
          <p:nvPr/>
        </p:nvSpPr>
        <p:spPr>
          <a:xfrm>
            <a:off x="1036320" y="1638479"/>
            <a:ext cx="21915120" cy="11110734"/>
          </a:xfrm>
          <a:prstGeom prst="rect">
            <a:avLst/>
          </a:prstGeom>
          <a:noFill/>
        </p:spPr>
        <p:txBody>
          <a:bodyPr wrap="square" rtlCol="0">
            <a:spAutoFit/>
          </a:bodyPr>
          <a:lstStyle/>
          <a:p>
            <a:pPr marL="742950" indent="-74295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Total customers are 500, and all are repeat customers. There are no new customers, this tells that the business is not growing, which resulted in no new customer.</a:t>
            </a:r>
          </a:p>
          <a:p>
            <a:pPr marL="742950" indent="-74295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Jordan Garcia is the top customer of our business with 20k sales.</a:t>
            </a:r>
          </a:p>
          <a:p>
            <a:pPr marL="742950" indent="-74295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Home office segment is generating the highest profits but consumer and corporate has dropdown, so we should focus more on the consumer segment to increase profits.</a:t>
            </a:r>
          </a:p>
          <a:p>
            <a:pPr marL="742950" indent="-74295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Most cities lie in the consumer &amp; corporate segment because they both have same city counts while home office segment has only small gap, which tells that the segments are mostly even distributed in the cities, which is a good sign.</a:t>
            </a:r>
          </a:p>
          <a:p>
            <a:pPr marL="742950" indent="-74295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Registrations have steadily increased every year; this shows that we had a growth in new customers in those years.</a:t>
            </a:r>
          </a:p>
          <a:p>
            <a:pPr marL="742950" indent="-74295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City-wise sales show that most of revenue is generated from the southern most part of India and we have the least sale from Delhi.</a:t>
            </a:r>
          </a:p>
        </p:txBody>
      </p:sp>
      <p:pic>
        <p:nvPicPr>
          <p:cNvPr id="4" name="Picture 3">
            <a:extLst>
              <a:ext uri="{FF2B5EF4-FFF2-40B4-BE49-F238E27FC236}">
                <a16:creationId xmlns:a16="http://schemas.microsoft.com/office/drawing/2014/main" id="{E8C6A3EC-B3AD-8E70-E671-35AA31A3939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flipH="1">
            <a:off x="13553757" y="666720"/>
            <a:ext cx="811862" cy="769441"/>
          </a:xfrm>
          <a:prstGeom prst="rect">
            <a:avLst/>
          </a:prstGeom>
        </p:spPr>
      </p:pic>
    </p:spTree>
    <p:extLst>
      <p:ext uri="{BB962C8B-B14F-4D97-AF65-F5344CB8AC3E}">
        <p14:creationId xmlns:p14="http://schemas.microsoft.com/office/powerpoint/2010/main" val="31338947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A6F2F-6718-34D3-7213-F36674BA54E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38073BC-6B1A-1631-4654-F5CB25F362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387175" cy="13752300"/>
          </a:xfrm>
          <a:prstGeom prst="rect">
            <a:avLst/>
          </a:prstGeom>
        </p:spPr>
      </p:pic>
    </p:spTree>
    <p:extLst>
      <p:ext uri="{BB962C8B-B14F-4D97-AF65-F5344CB8AC3E}">
        <p14:creationId xmlns:p14="http://schemas.microsoft.com/office/powerpoint/2010/main" val="4943216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95139-F5D6-9F46-179E-A908B640D1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0652C4B-4EF9-E571-1F08-6FBC5BA60A24}"/>
              </a:ext>
            </a:extLst>
          </p:cNvPr>
          <p:cNvSpPr txBox="1"/>
          <p:nvPr/>
        </p:nvSpPr>
        <p:spPr>
          <a:xfrm>
            <a:off x="10420350" y="480239"/>
            <a:ext cx="3171507" cy="984885"/>
          </a:xfrm>
          <a:prstGeom prst="rect">
            <a:avLst/>
          </a:prstGeom>
          <a:noFill/>
        </p:spPr>
        <p:txBody>
          <a:bodyPr wrap="square" rtlCol="0">
            <a:spAutoFit/>
          </a:bodyPr>
          <a:lstStyle/>
          <a:p>
            <a:pPr algn="ctr"/>
            <a:r>
              <a:rPr lang="en-US" sz="5800" dirty="0">
                <a:solidFill>
                  <a:schemeClr val="accent2">
                    <a:lumMod val="75000"/>
                  </a:schemeClr>
                </a:solidFill>
                <a:latin typeface="Spotify Mix" panose="020B0504040202020203" pitchFamily="34" charset="0"/>
              </a:rPr>
              <a:t>Insights</a:t>
            </a:r>
            <a:endParaRPr lang="en-IN" sz="5800" dirty="0">
              <a:solidFill>
                <a:schemeClr val="accent2">
                  <a:lumMod val="75000"/>
                </a:schemeClr>
              </a:solidFill>
              <a:latin typeface="Spotify Mix" panose="020B0504040202020203" pitchFamily="34" charset="0"/>
            </a:endParaRPr>
          </a:p>
        </p:txBody>
      </p:sp>
      <p:sp>
        <p:nvSpPr>
          <p:cNvPr id="3" name="TextBox 2">
            <a:extLst>
              <a:ext uri="{FF2B5EF4-FFF2-40B4-BE49-F238E27FC236}">
                <a16:creationId xmlns:a16="http://schemas.microsoft.com/office/drawing/2014/main" id="{758B5AB4-EF4A-BECD-386A-7285ED94405E}"/>
              </a:ext>
            </a:extLst>
          </p:cNvPr>
          <p:cNvSpPr txBox="1"/>
          <p:nvPr/>
        </p:nvSpPr>
        <p:spPr>
          <a:xfrm>
            <a:off x="1036320" y="1638479"/>
            <a:ext cx="21915120" cy="11787842"/>
          </a:xfrm>
          <a:prstGeom prst="rect">
            <a:avLst/>
          </a:prstGeom>
          <a:noFill/>
        </p:spPr>
        <p:txBody>
          <a:bodyPr wrap="square" rtlCol="0">
            <a:spAutoFit/>
          </a:bodyPr>
          <a:lstStyle/>
          <a:p>
            <a:pPr marL="571500" indent="-571500">
              <a:spcBef>
                <a:spcPts val="1200"/>
              </a:spcBef>
              <a:spcAft>
                <a:spcPts val="1200"/>
              </a:spcAft>
              <a:buClr>
                <a:schemeClr val="tx1"/>
              </a:buClr>
              <a:buFont typeface="Arial" panose="020B0604020202020204" pitchFamily="34" charset="0"/>
              <a:buChar char="•"/>
            </a:pPr>
            <a:r>
              <a:rPr lang="en-US" sz="4000" dirty="0">
                <a:latin typeface="Spotify Mix" panose="020B0504040202020203" pitchFamily="34" charset="0"/>
              </a:rPr>
              <a:t>There are 1000 total orders, &amp; the total sales was 2.46M in which the total profit was 433.60k, which says the profit percent was 17.63%, which means the business is not in good conditions.</a:t>
            </a:r>
          </a:p>
          <a:p>
            <a:pPr marL="571500" indent="-571500">
              <a:spcBef>
                <a:spcPts val="1200"/>
              </a:spcBef>
              <a:spcAft>
                <a:spcPts val="1200"/>
              </a:spcAft>
              <a:buClr>
                <a:schemeClr val="tx1"/>
              </a:buClr>
              <a:buFont typeface="Arial" panose="020B0604020202020204" pitchFamily="34" charset="0"/>
              <a:buChar char="•"/>
            </a:pPr>
            <a:r>
              <a:rPr lang="en-US" sz="4000" dirty="0">
                <a:latin typeface="Spotify Mix" panose="020B0504040202020203" pitchFamily="34" charset="0"/>
              </a:rPr>
              <a:t>57% of orders are repeat orders, which is a good sign.</a:t>
            </a:r>
          </a:p>
          <a:p>
            <a:pPr marL="571500" indent="-571500">
              <a:spcBef>
                <a:spcPts val="1200"/>
              </a:spcBef>
              <a:spcAft>
                <a:spcPts val="1200"/>
              </a:spcAft>
              <a:buClr>
                <a:schemeClr val="tx1"/>
              </a:buClr>
              <a:buFont typeface="Arial" panose="020B0604020202020204" pitchFamily="34" charset="0"/>
              <a:buChar char="•"/>
            </a:pPr>
            <a:r>
              <a:rPr lang="en-US" sz="4000" dirty="0">
                <a:latin typeface="Spotify Mix" panose="020B0504040202020203" pitchFamily="34" charset="0"/>
              </a:rPr>
              <a:t>Discount impact is very high, which says a big part of revenue is being lost in discounts.</a:t>
            </a:r>
          </a:p>
          <a:p>
            <a:pPr marL="571500" indent="-571500">
              <a:spcBef>
                <a:spcPts val="1200"/>
              </a:spcBef>
              <a:spcAft>
                <a:spcPts val="1200"/>
              </a:spcAft>
              <a:buClr>
                <a:schemeClr val="tx1"/>
              </a:buClr>
              <a:buFont typeface="Arial" panose="020B0604020202020204" pitchFamily="34" charset="0"/>
              <a:buChar char="•"/>
            </a:pPr>
            <a:r>
              <a:rPr lang="en-US" sz="4000" dirty="0">
                <a:latin typeface="Spotify Mix" panose="020B0504040202020203" pitchFamily="34" charset="0"/>
              </a:rPr>
              <a:t>Technology category has the highest profits &amp; furniture’s is lowest.</a:t>
            </a:r>
          </a:p>
          <a:p>
            <a:pPr marL="571500" indent="-571500">
              <a:spcBef>
                <a:spcPts val="1200"/>
              </a:spcBef>
              <a:spcAft>
                <a:spcPts val="1200"/>
              </a:spcAft>
              <a:buClr>
                <a:schemeClr val="tx1"/>
              </a:buClr>
              <a:buFont typeface="Arial" panose="020B0604020202020204" pitchFamily="34" charset="0"/>
              <a:buChar char="•"/>
            </a:pPr>
            <a:r>
              <a:rPr lang="en-US" sz="4000" dirty="0">
                <a:latin typeface="Spotify Mix" panose="020B0504040202020203" pitchFamily="34" charset="0"/>
              </a:rPr>
              <a:t>Most customers are using First class &amp; Same day shipping, &amp; if there were return orders among these, then we had a loss over there, because of shipping costs.</a:t>
            </a:r>
          </a:p>
          <a:p>
            <a:pPr marL="571500" indent="-571500">
              <a:spcBef>
                <a:spcPts val="1200"/>
              </a:spcBef>
              <a:spcAft>
                <a:spcPts val="1200"/>
              </a:spcAft>
              <a:buClr>
                <a:schemeClr val="tx1"/>
              </a:buClr>
              <a:buFont typeface="Arial" panose="020B0604020202020204" pitchFamily="34" charset="0"/>
              <a:buChar char="•"/>
            </a:pPr>
            <a:r>
              <a:rPr lang="en-US" sz="4000" dirty="0">
                <a:latin typeface="Spotify Mix" panose="020B0504040202020203" pitchFamily="34" charset="0"/>
              </a:rPr>
              <a:t>The Quarterly profits are fluctuating where Q2 &amp; Q4 had most profits then Q1 &amp; Q3. The discounts had a spike in the Q2 but later got dropped, which is a good sign.</a:t>
            </a:r>
          </a:p>
          <a:p>
            <a:pPr marL="571500" indent="-571500">
              <a:spcBef>
                <a:spcPts val="1200"/>
              </a:spcBef>
              <a:spcAft>
                <a:spcPts val="1200"/>
              </a:spcAft>
              <a:buClr>
                <a:schemeClr val="tx1"/>
              </a:buClr>
              <a:buFont typeface="Arial" panose="020B0604020202020204" pitchFamily="34" charset="0"/>
              <a:buChar char="•"/>
            </a:pPr>
            <a:r>
              <a:rPr lang="en-US" sz="4000" dirty="0">
                <a:latin typeface="Spotify Mix" panose="020B0504040202020203" pitchFamily="34" charset="0"/>
              </a:rPr>
              <a:t>Tables is the top selling sub category.</a:t>
            </a:r>
          </a:p>
          <a:p>
            <a:pPr marL="571500" indent="-571500">
              <a:spcBef>
                <a:spcPts val="1200"/>
              </a:spcBef>
              <a:spcAft>
                <a:spcPts val="1200"/>
              </a:spcAft>
              <a:buClr>
                <a:schemeClr val="tx1"/>
              </a:buClr>
              <a:buFont typeface="Arial" panose="020B0604020202020204" pitchFamily="34" charset="0"/>
              <a:buChar char="•"/>
            </a:pPr>
            <a:r>
              <a:rPr lang="en-US" sz="4000" dirty="0">
                <a:latin typeface="Spotify Mix" panose="020B0504040202020203" pitchFamily="34" charset="0"/>
              </a:rPr>
              <a:t>Hyderabad has the highest sales &amp; Kolkata has the lowest. Hyd has more furniture and office accessories outlets so due to that we sold highest.</a:t>
            </a:r>
          </a:p>
          <a:p>
            <a:pPr marL="571500" indent="-571500">
              <a:spcBef>
                <a:spcPts val="1200"/>
              </a:spcBef>
              <a:spcAft>
                <a:spcPts val="1200"/>
              </a:spcAft>
              <a:buClr>
                <a:schemeClr val="tx1"/>
              </a:buClr>
              <a:buFont typeface="Arial" panose="020B0604020202020204" pitchFamily="34" charset="0"/>
              <a:buChar char="•"/>
            </a:pPr>
            <a:r>
              <a:rPr lang="en-US" sz="4000" dirty="0">
                <a:latin typeface="Spotify Mix" panose="020B0504040202020203" pitchFamily="34" charset="0"/>
              </a:rPr>
              <a:t>The Q2 had the most of our sales because the climatical reason, financial year for most companies, this means Q2 is a good period for the business.</a:t>
            </a:r>
          </a:p>
        </p:txBody>
      </p:sp>
      <p:pic>
        <p:nvPicPr>
          <p:cNvPr id="4" name="Picture 3">
            <a:extLst>
              <a:ext uri="{FF2B5EF4-FFF2-40B4-BE49-F238E27FC236}">
                <a16:creationId xmlns:a16="http://schemas.microsoft.com/office/drawing/2014/main" id="{EE22AFD1-4504-2674-3AE4-3CD3E7599479}"/>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flipH="1">
            <a:off x="13534707" y="685770"/>
            <a:ext cx="811862" cy="769441"/>
          </a:xfrm>
          <a:prstGeom prst="rect">
            <a:avLst/>
          </a:prstGeom>
        </p:spPr>
      </p:pic>
    </p:spTree>
    <p:extLst>
      <p:ext uri="{BB962C8B-B14F-4D97-AF65-F5344CB8AC3E}">
        <p14:creationId xmlns:p14="http://schemas.microsoft.com/office/powerpoint/2010/main" val="33980046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AD631-BDB9-59FF-E5FC-B7FA8A0F799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8971B5-4EBA-D060-09B2-A704D695BF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24387175" cy="13754581"/>
          </a:xfrm>
          <a:prstGeom prst="rect">
            <a:avLst/>
          </a:prstGeom>
        </p:spPr>
      </p:pic>
    </p:spTree>
    <p:extLst>
      <p:ext uri="{BB962C8B-B14F-4D97-AF65-F5344CB8AC3E}">
        <p14:creationId xmlns:p14="http://schemas.microsoft.com/office/powerpoint/2010/main" val="40186724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6DA9E-441E-9FFE-17CB-805B03372A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5A0446-4B62-84A8-E00F-BDE38F92694C}"/>
              </a:ext>
            </a:extLst>
          </p:cNvPr>
          <p:cNvSpPr txBox="1"/>
          <p:nvPr/>
        </p:nvSpPr>
        <p:spPr>
          <a:xfrm>
            <a:off x="10191750" y="480239"/>
            <a:ext cx="3400107" cy="984885"/>
          </a:xfrm>
          <a:prstGeom prst="rect">
            <a:avLst/>
          </a:prstGeom>
          <a:noFill/>
        </p:spPr>
        <p:txBody>
          <a:bodyPr wrap="square" rtlCol="0">
            <a:spAutoFit/>
          </a:bodyPr>
          <a:lstStyle/>
          <a:p>
            <a:pPr algn="ctr"/>
            <a:r>
              <a:rPr lang="en-US" sz="5800" dirty="0">
                <a:solidFill>
                  <a:schemeClr val="accent2">
                    <a:lumMod val="75000"/>
                  </a:schemeClr>
                </a:solidFill>
                <a:latin typeface="Spotify Mix" panose="020B0504040202020203" pitchFamily="34" charset="0"/>
              </a:rPr>
              <a:t>Insights</a:t>
            </a:r>
            <a:endParaRPr lang="en-IN" sz="5800" dirty="0">
              <a:solidFill>
                <a:schemeClr val="accent2">
                  <a:lumMod val="75000"/>
                </a:schemeClr>
              </a:solidFill>
              <a:latin typeface="Spotify Mix" panose="020B0504040202020203" pitchFamily="34" charset="0"/>
            </a:endParaRPr>
          </a:p>
        </p:txBody>
      </p:sp>
      <p:sp>
        <p:nvSpPr>
          <p:cNvPr id="3" name="TextBox 2">
            <a:extLst>
              <a:ext uri="{FF2B5EF4-FFF2-40B4-BE49-F238E27FC236}">
                <a16:creationId xmlns:a16="http://schemas.microsoft.com/office/drawing/2014/main" id="{FC4CF1EE-FA7B-D157-4033-4A37FA0C6E9C}"/>
              </a:ext>
            </a:extLst>
          </p:cNvPr>
          <p:cNvSpPr txBox="1"/>
          <p:nvPr/>
        </p:nvSpPr>
        <p:spPr>
          <a:xfrm>
            <a:off x="1036320" y="1638479"/>
            <a:ext cx="21915120" cy="11418510"/>
          </a:xfrm>
          <a:prstGeom prst="rect">
            <a:avLst/>
          </a:prstGeom>
          <a:noFill/>
        </p:spPr>
        <p:txBody>
          <a:bodyPr wrap="square" rtlCol="0">
            <a:spAutoFit/>
          </a:bodyPr>
          <a:lstStyle/>
          <a:p>
            <a:pPr marL="571500" indent="-57150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There are 100 returned orders &amp; percentage of return orders is 97%, which is way high, this tells that there is a major problem in products.</a:t>
            </a:r>
          </a:p>
          <a:p>
            <a:pPr marL="571500" indent="-57150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Most of the return reasons are top 3 i.e., defective, late delivery, wrong product &amp; customer dissatisfaction had slight difference but this shows the product quality is not good.</a:t>
            </a:r>
          </a:p>
          <a:p>
            <a:pPr marL="571500" indent="-57150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There is 39% of pending return order status, which needs to be approved or rejected ASAP.</a:t>
            </a:r>
          </a:p>
          <a:p>
            <a:pPr marL="571500" indent="-57150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Chennai &amp; Mumbai has the highest return orders, where as Pune &amp; Delhi have fewer returns.</a:t>
            </a:r>
          </a:p>
          <a:p>
            <a:pPr marL="571500" indent="-57150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Binders were the most returned sub category which means, the quality of binders needs to be improved &amp; also followed by chairs.</a:t>
            </a:r>
          </a:p>
          <a:p>
            <a:pPr marL="571500" indent="-57150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Q2 had the lowest orders returned where as Q1 had the highest.</a:t>
            </a:r>
          </a:p>
          <a:p>
            <a:pPr marL="571500" indent="-571500">
              <a:spcBef>
                <a:spcPts val="1200"/>
              </a:spcBef>
              <a:spcAft>
                <a:spcPts val="1200"/>
              </a:spcAft>
              <a:buClr>
                <a:schemeClr val="tx1"/>
              </a:buClr>
              <a:buFont typeface="Arial" panose="020B0604020202020204" pitchFamily="34" charset="0"/>
              <a:buChar char="•"/>
            </a:pPr>
            <a:r>
              <a:rPr lang="en-US" sz="4400" dirty="0">
                <a:latin typeface="Spotify Mix" panose="020B0504040202020203" pitchFamily="34" charset="0"/>
              </a:rPr>
              <a:t>Specifically, Jan had the highest return orders followed by July and October, and June and Nov had the lowest return orders. </a:t>
            </a:r>
          </a:p>
        </p:txBody>
      </p:sp>
      <p:pic>
        <p:nvPicPr>
          <p:cNvPr id="5" name="Picture 4">
            <a:extLst>
              <a:ext uri="{FF2B5EF4-FFF2-40B4-BE49-F238E27FC236}">
                <a16:creationId xmlns:a16="http://schemas.microsoft.com/office/drawing/2014/main" id="{1CC00CE8-CC77-9BC7-2157-14D8A132105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flipH="1">
            <a:off x="13477557" y="704820"/>
            <a:ext cx="811862" cy="769441"/>
          </a:xfrm>
          <a:prstGeom prst="rect">
            <a:avLst/>
          </a:prstGeom>
        </p:spPr>
      </p:pic>
    </p:spTree>
    <p:extLst>
      <p:ext uri="{BB962C8B-B14F-4D97-AF65-F5344CB8AC3E}">
        <p14:creationId xmlns:p14="http://schemas.microsoft.com/office/powerpoint/2010/main" val="26468716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9CB77-3CC1-FA0B-CEE8-178C6AC172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89B502-6589-2D21-7CE3-0DB668D2DC2E}"/>
              </a:ext>
            </a:extLst>
          </p:cNvPr>
          <p:cNvSpPr txBox="1"/>
          <p:nvPr/>
        </p:nvSpPr>
        <p:spPr>
          <a:xfrm>
            <a:off x="7487522" y="412849"/>
            <a:ext cx="9412130" cy="984885"/>
          </a:xfrm>
          <a:prstGeom prst="rect">
            <a:avLst/>
          </a:prstGeom>
          <a:noFill/>
        </p:spPr>
        <p:txBody>
          <a:bodyPr wrap="square" rtlCol="0">
            <a:spAutoFit/>
          </a:bodyPr>
          <a:lstStyle/>
          <a:p>
            <a:pPr algn="ctr"/>
            <a:r>
              <a:rPr lang="en-US" sz="5800" dirty="0">
                <a:solidFill>
                  <a:schemeClr val="accent2">
                    <a:lumMod val="75000"/>
                  </a:schemeClr>
                </a:solidFill>
                <a:latin typeface="Spotify Mix" panose="020B0504040202020203" pitchFamily="34" charset="0"/>
              </a:rPr>
              <a:t>Measures created in DAX</a:t>
            </a:r>
            <a:endParaRPr lang="en-IN" sz="5800" dirty="0">
              <a:solidFill>
                <a:schemeClr val="accent2">
                  <a:lumMod val="75000"/>
                </a:schemeClr>
              </a:solidFill>
              <a:latin typeface="Spotify Mix" panose="020B0504040202020203" pitchFamily="34" charset="0"/>
            </a:endParaRPr>
          </a:p>
        </p:txBody>
      </p:sp>
      <p:sp>
        <p:nvSpPr>
          <p:cNvPr id="6" name="TextBox 5">
            <a:extLst>
              <a:ext uri="{FF2B5EF4-FFF2-40B4-BE49-F238E27FC236}">
                <a16:creationId xmlns:a16="http://schemas.microsoft.com/office/drawing/2014/main" id="{DE5BE49B-3E9D-1C22-2E81-412182D635D1}"/>
              </a:ext>
            </a:extLst>
          </p:cNvPr>
          <p:cNvSpPr txBox="1"/>
          <p:nvPr/>
        </p:nvSpPr>
        <p:spPr>
          <a:xfrm>
            <a:off x="192087" y="1823085"/>
            <a:ext cx="24003000" cy="11480066"/>
          </a:xfrm>
          <a:prstGeom prst="rect">
            <a:avLst/>
          </a:prstGeom>
          <a:noFill/>
        </p:spPr>
        <p:txBody>
          <a:bodyPr wrap="square" rtlCol="0">
            <a:spAutoFit/>
          </a:bodyPr>
          <a:lstStyle/>
          <a:p>
            <a:pPr marL="742950" indent="-742950">
              <a:spcBef>
                <a:spcPts val="600"/>
              </a:spcBef>
              <a:spcAft>
                <a:spcPts val="600"/>
              </a:spcAft>
              <a:buFont typeface="+mj-lt"/>
              <a:buAutoNum type="arabicPeriod"/>
            </a:pPr>
            <a:r>
              <a:rPr lang="en-US" sz="4000" dirty="0">
                <a:latin typeface="Spotify Mix" panose="020B0504040202020203" pitchFamily="34" charset="0"/>
              </a:rPr>
              <a:t>Total Customers=DISTINCTCOUNT(customer_data[CustomerId]).</a:t>
            </a:r>
          </a:p>
          <a:p>
            <a:pPr marL="742950" indent="-742950">
              <a:spcBef>
                <a:spcPts val="600"/>
              </a:spcBef>
              <a:spcAft>
                <a:spcPts val="600"/>
              </a:spcAft>
              <a:buFont typeface="+mj-lt"/>
              <a:buAutoNum type="arabicPeriod"/>
            </a:pPr>
            <a:r>
              <a:rPr lang="en-US" sz="4000" dirty="0">
                <a:latin typeface="Spotify Mix" panose="020B0504040202020203" pitchFamily="34" charset="0"/>
              </a:rPr>
              <a:t>Repeat_Customers=CALCULATE([Total_customer],order_data[orderId]&gt;1).</a:t>
            </a:r>
          </a:p>
          <a:p>
            <a:pPr marL="742950" indent="-742950">
              <a:spcBef>
                <a:spcPts val="600"/>
              </a:spcBef>
              <a:spcAft>
                <a:spcPts val="600"/>
              </a:spcAft>
              <a:buFont typeface="+mj-lt"/>
              <a:buAutoNum type="arabicPeriod"/>
            </a:pPr>
            <a:r>
              <a:rPr lang="en-US" sz="4000" dirty="0">
                <a:latin typeface="Spotify Mix" panose="020B0504040202020203" pitchFamily="34" charset="0"/>
              </a:rPr>
              <a:t>New_Customers=[Total_Customers]-[Repeat_Customers].</a:t>
            </a:r>
          </a:p>
          <a:p>
            <a:pPr marL="742950" indent="-742950">
              <a:spcBef>
                <a:spcPts val="600"/>
              </a:spcBef>
              <a:spcAft>
                <a:spcPts val="600"/>
              </a:spcAft>
              <a:buFont typeface="+mj-lt"/>
              <a:buAutoNum type="arabicPeriod"/>
            </a:pPr>
            <a:r>
              <a:rPr lang="en-US" sz="4000" dirty="0">
                <a:latin typeface="Spotify Mix" panose="020B0504040202020203" pitchFamily="34" charset="0"/>
              </a:rPr>
              <a:t>Total sales=SUM(order_data[sales])</a:t>
            </a:r>
          </a:p>
          <a:p>
            <a:pPr marL="742950" indent="-742950">
              <a:spcBef>
                <a:spcPts val="600"/>
              </a:spcBef>
              <a:spcAft>
                <a:spcPts val="600"/>
              </a:spcAft>
              <a:buFont typeface="+mj-lt"/>
              <a:buAutoNum type="arabicPeriod"/>
            </a:pPr>
            <a:r>
              <a:rPr lang="en-US" sz="4000" dirty="0">
                <a:latin typeface="Spotify Mix" panose="020B0504040202020203" pitchFamily="34" charset="0"/>
              </a:rPr>
              <a:t>Total orders=DISTINCTCOUNT(order_data[orderId])</a:t>
            </a:r>
          </a:p>
          <a:p>
            <a:pPr marL="742950" indent="-742950">
              <a:spcBef>
                <a:spcPts val="600"/>
              </a:spcBef>
              <a:spcAft>
                <a:spcPts val="600"/>
              </a:spcAft>
              <a:buFont typeface="+mj-lt"/>
              <a:buAutoNum type="arabicPeriod"/>
            </a:pPr>
            <a:r>
              <a:rPr lang="en-US" sz="4000" dirty="0">
                <a:latin typeface="Spotify Mix" panose="020B0504040202020203" pitchFamily="34" charset="0"/>
              </a:rPr>
              <a:t>Total potential sales=SUMX(order_data,order_data[sales]/(1-order_data[Discount]))</a:t>
            </a:r>
          </a:p>
          <a:p>
            <a:pPr marL="742950" indent="-742950">
              <a:spcBef>
                <a:spcPts val="600"/>
              </a:spcBef>
              <a:spcAft>
                <a:spcPts val="600"/>
              </a:spcAft>
              <a:buFont typeface="+mj-lt"/>
              <a:buAutoNum type="arabicPeriod"/>
            </a:pPr>
            <a:r>
              <a:rPr lang="en-US" sz="4000" dirty="0">
                <a:latin typeface="Spotify Mix" panose="020B0504040202020203" pitchFamily="34" charset="0"/>
              </a:rPr>
              <a:t>Discount impact=[Total sales]-[Total potential sales]</a:t>
            </a:r>
          </a:p>
          <a:p>
            <a:pPr marL="742950" indent="-742950">
              <a:spcBef>
                <a:spcPts val="600"/>
              </a:spcBef>
              <a:spcAft>
                <a:spcPts val="600"/>
              </a:spcAft>
              <a:buFont typeface="+mj-lt"/>
              <a:buAutoNum type="arabicPeriod"/>
            </a:pPr>
            <a:r>
              <a:rPr lang="en-US" sz="4000" dirty="0">
                <a:latin typeface="Spotify Mix" panose="020B0504040202020203" pitchFamily="34" charset="0"/>
              </a:rPr>
              <a:t>Discount impact percentage=DIVIDE([discount impact],[Total potential sales])</a:t>
            </a:r>
          </a:p>
          <a:p>
            <a:pPr marL="742950" indent="-742950">
              <a:spcBef>
                <a:spcPts val="600"/>
              </a:spcBef>
              <a:spcAft>
                <a:spcPts val="600"/>
              </a:spcAft>
              <a:buFont typeface="+mj-lt"/>
              <a:buAutoNum type="arabicPeriod"/>
            </a:pPr>
            <a:r>
              <a:rPr lang="en-US" sz="4000" dirty="0">
                <a:latin typeface="Spotify Mix" panose="020B0504040202020203" pitchFamily="34" charset="0"/>
              </a:rPr>
              <a:t>Distinct customers=DISTINCTCOUNT(order_data[customersId])</a:t>
            </a:r>
          </a:p>
          <a:p>
            <a:pPr marL="742950" indent="-742950">
              <a:spcBef>
                <a:spcPts val="600"/>
              </a:spcBef>
              <a:spcAft>
                <a:spcPts val="600"/>
              </a:spcAft>
              <a:buFont typeface="+mj-lt"/>
              <a:buAutoNum type="arabicPeriod"/>
            </a:pPr>
            <a:r>
              <a:rPr lang="en-US" sz="4000" dirty="0">
                <a:latin typeface="Spotify Mix" panose="020B0504040202020203" pitchFamily="34" charset="0"/>
              </a:rPr>
              <a:t>Count of repeat orders=[Total orders]-[Distinct customers]</a:t>
            </a:r>
          </a:p>
          <a:p>
            <a:pPr marL="742950" indent="-742950">
              <a:spcBef>
                <a:spcPts val="600"/>
              </a:spcBef>
              <a:spcAft>
                <a:spcPts val="600"/>
              </a:spcAft>
              <a:buFont typeface="+mj-lt"/>
              <a:buAutoNum type="arabicPeriod"/>
            </a:pPr>
            <a:r>
              <a:rPr lang="en-US" sz="4000" dirty="0">
                <a:latin typeface="Spotify Mix" panose="020B0504040202020203" pitchFamily="34" charset="0"/>
              </a:rPr>
              <a:t>Percentage of repeat orders=DIVIDE([count of repeat orders],[Total orders])</a:t>
            </a:r>
          </a:p>
          <a:p>
            <a:pPr marL="742950" indent="-742950">
              <a:spcBef>
                <a:spcPts val="600"/>
              </a:spcBef>
              <a:spcAft>
                <a:spcPts val="600"/>
              </a:spcAft>
              <a:buFont typeface="+mj-lt"/>
              <a:buAutoNum type="arabicPeriod"/>
            </a:pPr>
            <a:r>
              <a:rPr lang="en-US" sz="4000" dirty="0">
                <a:latin typeface="Spotify Mix" panose="020B0504040202020203" pitchFamily="34" charset="0"/>
              </a:rPr>
              <a:t>Total_orders2=DISTINCTCOUNT(order_data[orderId])</a:t>
            </a:r>
          </a:p>
          <a:p>
            <a:pPr marL="742950" indent="-742950">
              <a:spcBef>
                <a:spcPts val="600"/>
              </a:spcBef>
              <a:spcAft>
                <a:spcPts val="600"/>
              </a:spcAft>
              <a:buFont typeface="+mj-lt"/>
              <a:buAutoNum type="arabicPeriod"/>
            </a:pPr>
            <a:r>
              <a:rPr lang="en-US" sz="4000" dirty="0">
                <a:latin typeface="Spotify Mix" panose="020B0504040202020203" pitchFamily="34" charset="0"/>
              </a:rPr>
              <a:t>Total_returned_orders=COUNT(return_data[orderId])</a:t>
            </a:r>
          </a:p>
          <a:p>
            <a:pPr marL="742950" indent="-742950">
              <a:spcBef>
                <a:spcPts val="600"/>
              </a:spcBef>
              <a:spcAft>
                <a:spcPts val="600"/>
              </a:spcAft>
              <a:buFont typeface="+mj-lt"/>
              <a:buAutoNum type="arabicPeriod"/>
            </a:pPr>
            <a:r>
              <a:rPr lang="en-US" sz="4000" dirty="0">
                <a:latin typeface="Spotify Mix" panose="020B0504040202020203" pitchFamily="34" charset="0"/>
              </a:rPr>
              <a:t>Total_distinct_orders_returned=DISTINCTCOUNT(return_data[order_Id])</a:t>
            </a:r>
          </a:p>
          <a:p>
            <a:pPr marL="742950" indent="-742950">
              <a:spcBef>
                <a:spcPts val="600"/>
              </a:spcBef>
              <a:spcAft>
                <a:spcPts val="600"/>
              </a:spcAft>
              <a:buFont typeface="+mj-lt"/>
              <a:buAutoNum type="arabicPeriod"/>
            </a:pPr>
            <a:r>
              <a:rPr lang="en-US" sz="4000" dirty="0">
                <a:latin typeface="Spotify Mix" panose="020B0504040202020203" pitchFamily="34" charset="0"/>
              </a:rPr>
              <a:t>Percentage of returned orders=DIVIDE([total_distinct_orders_returned],[total_returned_orders])</a:t>
            </a:r>
            <a:endParaRPr lang="en-IN" sz="4000" dirty="0">
              <a:latin typeface="Spotify Mix" panose="020B0504040202020203" pitchFamily="34" charset="0"/>
            </a:endParaRPr>
          </a:p>
        </p:txBody>
      </p:sp>
    </p:spTree>
    <p:extLst>
      <p:ext uri="{BB962C8B-B14F-4D97-AF65-F5344CB8AC3E}">
        <p14:creationId xmlns:p14="http://schemas.microsoft.com/office/powerpoint/2010/main" val="12593926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25D33-81A8-C4DF-A926-8BA799C5DF6D}"/>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14C5434-D5DD-1590-DE3A-FADD3328B96B}"/>
              </a:ext>
            </a:extLst>
          </p:cNvPr>
          <p:cNvGrpSpPr/>
          <p:nvPr/>
        </p:nvGrpSpPr>
        <p:grpSpPr>
          <a:xfrm>
            <a:off x="9535319" y="3998052"/>
            <a:ext cx="6930186" cy="4519568"/>
            <a:chOff x="9535319" y="3998052"/>
            <a:chExt cx="6930186" cy="4519568"/>
          </a:xfrm>
        </p:grpSpPr>
        <p:sp>
          <p:nvSpPr>
            <p:cNvPr id="2" name="TextBox 1">
              <a:extLst>
                <a:ext uri="{FF2B5EF4-FFF2-40B4-BE49-F238E27FC236}">
                  <a16:creationId xmlns:a16="http://schemas.microsoft.com/office/drawing/2014/main" id="{131B9652-9C09-6B14-D773-5B15615721C0}"/>
                </a:ext>
              </a:extLst>
            </p:cNvPr>
            <p:cNvSpPr txBox="1"/>
            <p:nvPr/>
          </p:nvSpPr>
          <p:spPr>
            <a:xfrm>
              <a:off x="9535319" y="6257836"/>
              <a:ext cx="5316537" cy="1200329"/>
            </a:xfrm>
            <a:prstGeom prst="rect">
              <a:avLst/>
            </a:prstGeom>
            <a:noFill/>
          </p:spPr>
          <p:txBody>
            <a:bodyPr wrap="square" rtlCol="0">
              <a:spAutoFit/>
            </a:bodyPr>
            <a:lstStyle/>
            <a:p>
              <a:r>
                <a:rPr lang="en-US" sz="7200" dirty="0">
                  <a:latin typeface="Spotify Mix" panose="020B0504040202020203" pitchFamily="34" charset="0"/>
                </a:rPr>
                <a:t>Thank You..</a:t>
              </a:r>
              <a:endParaRPr lang="en-IN" sz="7200" dirty="0">
                <a:latin typeface="Spotify Mix" panose="020B0504040202020203" pitchFamily="34" charset="0"/>
              </a:endParaRPr>
            </a:p>
          </p:txBody>
        </p:sp>
        <p:pic>
          <p:nvPicPr>
            <p:cNvPr id="4" name="Picture 3">
              <a:extLst>
                <a:ext uri="{FF2B5EF4-FFF2-40B4-BE49-F238E27FC236}">
                  <a16:creationId xmlns:a16="http://schemas.microsoft.com/office/drawing/2014/main" id="{4DA25B00-2AD1-4E5F-0D08-B33AE98482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1945937" y="3998052"/>
              <a:ext cx="4519568" cy="4519568"/>
            </a:xfrm>
            <a:prstGeom prst="rect">
              <a:avLst/>
            </a:prstGeom>
            <a:effectLst/>
          </p:spPr>
        </p:pic>
      </p:grpSp>
    </p:spTree>
    <p:extLst>
      <p:ext uri="{BB962C8B-B14F-4D97-AF65-F5344CB8AC3E}">
        <p14:creationId xmlns:p14="http://schemas.microsoft.com/office/powerpoint/2010/main" val="9252676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425</TotalTime>
  <Words>998</Words>
  <Application>Microsoft Office PowerPoint</Application>
  <PresentationFormat>Custom</PresentationFormat>
  <Paragraphs>93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Calisto MT</vt:lpstr>
      <vt:lpstr>Spotify Mix</vt:lpstr>
      <vt:lpstr>Wingdings 2</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Manikk ...</dc:creator>
  <cp:lastModifiedBy>Manikk ...</cp:lastModifiedBy>
  <cp:revision>12</cp:revision>
  <dcterms:created xsi:type="dcterms:W3CDTF">2025-11-23T11:45:28Z</dcterms:created>
  <dcterms:modified xsi:type="dcterms:W3CDTF">2025-11-24T08:47:07Z</dcterms:modified>
</cp:coreProperties>
</file>